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Amatic SC"/>
      <p:regular r:id="rId20"/>
      <p:bold r:id="rId21"/>
    </p:embeddedFont>
    <p:embeddedFont>
      <p:font typeface="Source Code Pr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AmaticSC-regular.fntdata"/><Relationship Id="rId22" Type="http://schemas.openxmlformats.org/officeDocument/2006/relationships/font" Target="fonts/SourceCodePro-regular.fntdata"/><Relationship Id="rId21" Type="http://schemas.openxmlformats.org/officeDocument/2006/relationships/font" Target="fonts/AmaticSC-bold.fntdata"/><Relationship Id="rId24" Type="http://schemas.openxmlformats.org/officeDocument/2006/relationships/font" Target="fonts/SourceCodePro-italic.fntdata"/><Relationship Id="rId23" Type="http://schemas.openxmlformats.org/officeDocument/2006/relationships/font" Target="fonts/SourceCodePr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SourceCodePr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72a20a2dad_0_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72a20a2dad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72a20a2dad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72a20a2dad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72a20a2dad_0_5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72a20a2dad_0_5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72a20a2dad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72a20a2dad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72a20a2dad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72a20a2dad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72a20a2dad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72a20a2dad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72a20a2dad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72a20a2dad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72a20a2dad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72a20a2dad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72a20a2dad_0_6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72a20a2dad_0_6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72a20a2dad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72a20a2dad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72b2b9d19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72b2b9d19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72b2b9d196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72b2b9d196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72a6fe00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72a6fe00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1600"/>
              </a:spcBef>
              <a:spcAft>
                <a:spcPts val="0"/>
              </a:spcAft>
              <a:buClr>
                <a:schemeClr val="accent1"/>
              </a:buClr>
              <a:buSzPts val="1400"/>
              <a:buChar char="○"/>
              <a:defRPr>
                <a:solidFill>
                  <a:schemeClr val="accent1"/>
                </a:solidFill>
                <a:highlight>
                  <a:schemeClr val="lt1"/>
                </a:highlight>
              </a:defRPr>
            </a:lvl2pPr>
            <a:lvl3pPr indent="-317500" lvl="2" marL="1371600">
              <a:spcBef>
                <a:spcPts val="1600"/>
              </a:spcBef>
              <a:spcAft>
                <a:spcPts val="0"/>
              </a:spcAft>
              <a:buClr>
                <a:schemeClr val="accent1"/>
              </a:buClr>
              <a:buSzPts val="1400"/>
              <a:buChar char="■"/>
              <a:defRPr>
                <a:solidFill>
                  <a:schemeClr val="accent1"/>
                </a:solidFill>
                <a:highlight>
                  <a:schemeClr val="lt1"/>
                </a:highlight>
              </a:defRPr>
            </a:lvl3pPr>
            <a:lvl4pPr indent="-317500" lvl="3" marL="1828800">
              <a:spcBef>
                <a:spcPts val="1600"/>
              </a:spcBef>
              <a:spcAft>
                <a:spcPts val="0"/>
              </a:spcAft>
              <a:buClr>
                <a:schemeClr val="accent1"/>
              </a:buClr>
              <a:buSzPts val="1400"/>
              <a:buChar char="●"/>
              <a:defRPr>
                <a:solidFill>
                  <a:schemeClr val="accent1"/>
                </a:solidFill>
                <a:highlight>
                  <a:schemeClr val="lt1"/>
                </a:highlight>
              </a:defRPr>
            </a:lvl4pPr>
            <a:lvl5pPr indent="-317500" lvl="4" marL="2286000">
              <a:spcBef>
                <a:spcPts val="1600"/>
              </a:spcBef>
              <a:spcAft>
                <a:spcPts val="0"/>
              </a:spcAft>
              <a:buClr>
                <a:schemeClr val="accent1"/>
              </a:buClr>
              <a:buSzPts val="1400"/>
              <a:buChar char="○"/>
              <a:defRPr>
                <a:solidFill>
                  <a:schemeClr val="accent1"/>
                </a:solidFill>
                <a:highlight>
                  <a:schemeClr val="lt1"/>
                </a:highlight>
              </a:defRPr>
            </a:lvl5pPr>
            <a:lvl6pPr indent="-317500" lvl="5" marL="2743200">
              <a:spcBef>
                <a:spcPts val="1600"/>
              </a:spcBef>
              <a:spcAft>
                <a:spcPts val="0"/>
              </a:spcAft>
              <a:buClr>
                <a:schemeClr val="accent1"/>
              </a:buClr>
              <a:buSzPts val="1400"/>
              <a:buChar char="■"/>
              <a:defRPr>
                <a:solidFill>
                  <a:schemeClr val="accent1"/>
                </a:solidFill>
                <a:highlight>
                  <a:schemeClr val="lt1"/>
                </a:highlight>
              </a:defRPr>
            </a:lvl6pPr>
            <a:lvl7pPr indent="-317500" lvl="6" marL="3200400">
              <a:spcBef>
                <a:spcPts val="1600"/>
              </a:spcBef>
              <a:spcAft>
                <a:spcPts val="0"/>
              </a:spcAft>
              <a:buClr>
                <a:schemeClr val="accent1"/>
              </a:buClr>
              <a:buSzPts val="1400"/>
              <a:buChar char="●"/>
              <a:defRPr>
                <a:solidFill>
                  <a:schemeClr val="accent1"/>
                </a:solidFill>
                <a:highlight>
                  <a:schemeClr val="lt1"/>
                </a:highlight>
              </a:defRPr>
            </a:lvl7pPr>
            <a:lvl8pPr indent="-317500" lvl="7" marL="3657600">
              <a:spcBef>
                <a:spcPts val="1600"/>
              </a:spcBef>
              <a:spcAft>
                <a:spcPts val="0"/>
              </a:spcAft>
              <a:buClr>
                <a:schemeClr val="accent1"/>
              </a:buClr>
              <a:buSzPts val="1400"/>
              <a:buChar char="○"/>
              <a:defRPr>
                <a:solidFill>
                  <a:schemeClr val="accent1"/>
                </a:solidFill>
                <a:highlight>
                  <a:schemeClr val="lt1"/>
                </a:highlight>
              </a:defRPr>
            </a:lvl8pPr>
            <a:lvl9pPr indent="-317500" lvl="8" marL="4114800">
              <a:spcBef>
                <a:spcPts val="1600"/>
              </a:spcBef>
              <a:spcAft>
                <a:spcPts val="160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160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160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160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160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160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160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160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1600"/>
              </a:spcBef>
              <a:spcAft>
                <a:spcPts val="160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160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1600"/>
              </a:spcBef>
              <a:spcAft>
                <a:spcPts val="160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rxiv.org/pdf/1809.05679.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arxiv.org/abs/1809.05679"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824000" y="404225"/>
            <a:ext cx="7901700" cy="3082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tr" sz="4500">
                <a:latin typeface="Georgia"/>
                <a:ea typeface="Georgia"/>
                <a:cs typeface="Georgia"/>
                <a:sym typeface="Georgia"/>
              </a:rPr>
              <a:t>Text Classification Using Graph Convolutional Neural Networks</a:t>
            </a:r>
            <a:endParaRPr sz="4500">
              <a:latin typeface="Georgia"/>
              <a:ea typeface="Georgia"/>
              <a:cs typeface="Georgia"/>
              <a:sym typeface="Georgia"/>
            </a:endParaRPr>
          </a:p>
        </p:txBody>
      </p:sp>
      <p:sp>
        <p:nvSpPr>
          <p:cNvPr id="57" name="Google Shape;57;p13"/>
          <p:cNvSpPr txBox="1"/>
          <p:nvPr>
            <p:ph idx="1" type="subTitle"/>
          </p:nvPr>
        </p:nvSpPr>
        <p:spPr>
          <a:xfrm>
            <a:off x="311700" y="3554450"/>
            <a:ext cx="8520600" cy="404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2600"/>
          </a:p>
          <a:p>
            <a:pPr indent="0" lvl="0" marL="0" rtl="0" algn="ctr">
              <a:spcBef>
                <a:spcPts val="0"/>
              </a:spcBef>
              <a:spcAft>
                <a:spcPts val="0"/>
              </a:spcAft>
              <a:buNone/>
            </a:pPr>
            <a:r>
              <a:rPr lang="tr" sz="2200"/>
              <a:t>Berk Sudan, Guneykan Ozgul, Onur Kilicoglu</a:t>
            </a:r>
            <a:endParaRPr sz="2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sz="3000">
                <a:latin typeface="Georgia"/>
                <a:ea typeface="Georgia"/>
                <a:cs typeface="Georgia"/>
                <a:sym typeface="Georgia"/>
              </a:rPr>
              <a:t>INTRODUCTION</a:t>
            </a:r>
            <a:endParaRPr sz="3000">
              <a:latin typeface="Georgia"/>
              <a:ea typeface="Georgia"/>
              <a:cs typeface="Georgia"/>
              <a:sym typeface="Georgia"/>
            </a:endParaRPr>
          </a:p>
        </p:txBody>
      </p:sp>
      <p:sp>
        <p:nvSpPr>
          <p:cNvPr id="63" name="Google Shape;63;p14"/>
          <p:cNvSpPr txBox="1"/>
          <p:nvPr>
            <p:ph idx="1" type="body"/>
          </p:nvPr>
        </p:nvSpPr>
        <p:spPr>
          <a:xfrm>
            <a:off x="311700" y="1228675"/>
            <a:ext cx="8520600" cy="3663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tr"/>
              <a:t>An essential intermediate step for text classification is text representation. Traditional methods represent text with hand-crafted features, such as sparse lexical features (e.g., bag-of-words and n-grams).</a:t>
            </a:r>
            <a:br>
              <a:rPr lang="tr"/>
            </a:br>
            <a:endParaRPr/>
          </a:p>
          <a:p>
            <a:pPr indent="-342900" lvl="0" marL="457200" rtl="0" algn="l">
              <a:spcBef>
                <a:spcPts val="0"/>
              </a:spcBef>
              <a:spcAft>
                <a:spcPts val="0"/>
              </a:spcAft>
              <a:buSzPts val="1800"/>
              <a:buChar char="●"/>
            </a:pPr>
            <a:r>
              <a:rPr lang="tr"/>
              <a:t>Recently, deep learning models have been widely used to learn text representations, including convolutional neural networks (CNN) (Kim 2014) and recurrent neural networks (RNN) such as long short-term memory (LSTM) (Hochreiter and Schmidhuber 1997). </a:t>
            </a:r>
            <a:endParaRPr/>
          </a:p>
        </p:txBody>
      </p:sp>
      <p:sp>
        <p:nvSpPr>
          <p:cNvPr id="64" name="Google Shape;64;p14"/>
          <p:cNvSpPr txBox="1"/>
          <p:nvPr/>
        </p:nvSpPr>
        <p:spPr>
          <a:xfrm>
            <a:off x="55750" y="4836850"/>
            <a:ext cx="9088200" cy="3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idx="1" type="body"/>
          </p:nvPr>
        </p:nvSpPr>
        <p:spPr>
          <a:xfrm>
            <a:off x="311700" y="292725"/>
            <a:ext cx="8520600" cy="4290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tr"/>
              <a:t>As CNN and RNN prioritize locality and sequentiality (Battaglia et al. 2018), these deep learning models can capture semantic and syntactic information in local consecutive word sequences well, but may ignore global word co-occurrence in a corpus which carries non-consecutive and long-distance semantics (Peng et al. 2018).</a:t>
            </a:r>
            <a:br>
              <a:rPr lang="tr"/>
            </a:br>
            <a:endParaRPr/>
          </a:p>
          <a:p>
            <a:pPr indent="-342900" lvl="0" marL="457200" rtl="0" algn="l">
              <a:spcBef>
                <a:spcPts val="0"/>
              </a:spcBef>
              <a:spcAft>
                <a:spcPts val="0"/>
              </a:spcAft>
              <a:buSzPts val="1800"/>
              <a:buChar char="●"/>
            </a:pPr>
            <a:r>
              <a:rPr lang="tr"/>
              <a:t>Graph neural networks have been effective at tasks thought to have rich relational structure and can preserve global structure information of a graph in graph embeddings.</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 type="body"/>
          </p:nvPr>
        </p:nvSpPr>
        <p:spPr>
          <a:xfrm>
            <a:off x="311700" y="933925"/>
            <a:ext cx="8520600" cy="4014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tr"/>
              <a:t>Liang Yao, Chengsheng Mao, Yuan Luo from Northwestern University</a:t>
            </a:r>
            <a:r>
              <a:rPr lang="tr" sz="1400"/>
              <a:t> </a:t>
            </a:r>
            <a:r>
              <a:rPr lang="tr"/>
              <a:t>proposes a GCN model</a:t>
            </a:r>
            <a:r>
              <a:rPr lang="tr" sz="1400"/>
              <a:t>¶</a:t>
            </a:r>
            <a:r>
              <a:rPr lang="tr"/>
              <a:t> to learn word and document embeddings simultaneously to overcome this problem.</a:t>
            </a:r>
            <a:br>
              <a:rPr lang="tr"/>
            </a:br>
            <a:endParaRPr/>
          </a:p>
          <a:p>
            <a:pPr indent="-342900" lvl="0" marL="457200" rtl="0" algn="l">
              <a:spcBef>
                <a:spcPts val="0"/>
              </a:spcBef>
              <a:spcAft>
                <a:spcPts val="0"/>
              </a:spcAft>
              <a:buSzPts val="1800"/>
              <a:buChar char="●"/>
            </a:pPr>
            <a:r>
              <a:rPr lang="tr"/>
              <a:t>The edge between two word nodes is built by word co-occurrence information and the edge between a word node and document node is built using word frequency and word’s document frequency, hence text classification problem becomes a node classification problem.</a:t>
            </a:r>
            <a:br>
              <a:rPr lang="tr"/>
            </a:br>
            <a:endParaRPr/>
          </a:p>
          <a:p>
            <a:pPr indent="0" lvl="0" marL="0" rtl="0" algn="l">
              <a:spcBef>
                <a:spcPts val="1600"/>
              </a:spcBef>
              <a:spcAft>
                <a:spcPts val="1600"/>
              </a:spcAft>
              <a:buNone/>
            </a:pPr>
            <a:r>
              <a:rPr lang="tr" sz="1300"/>
              <a:t>¶ </a:t>
            </a:r>
            <a:r>
              <a:rPr lang="tr" sz="1400" u="sng">
                <a:solidFill>
                  <a:schemeClr val="hlink"/>
                </a:solidFill>
                <a:latin typeface="Arial"/>
                <a:ea typeface="Arial"/>
                <a:cs typeface="Arial"/>
                <a:sym typeface="Arial"/>
                <a:hlinkClick r:id="rId3"/>
              </a:rPr>
              <a:t>https://arxiv.org/pdf/1809.05679.pdf</a:t>
            </a:r>
            <a:endParaRPr sz="2100"/>
          </a:p>
        </p:txBody>
      </p:sp>
      <p:sp>
        <p:nvSpPr>
          <p:cNvPr id="75" name="Google Shape;75;p16"/>
          <p:cNvSpPr txBox="1"/>
          <p:nvPr/>
        </p:nvSpPr>
        <p:spPr>
          <a:xfrm>
            <a:off x="543600" y="167250"/>
            <a:ext cx="8056800" cy="98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tr" sz="3000">
                <a:solidFill>
                  <a:schemeClr val="accent1"/>
                </a:solidFill>
                <a:latin typeface="Georgia"/>
                <a:ea typeface="Georgia"/>
                <a:cs typeface="Georgia"/>
                <a:sym typeface="Georgia"/>
              </a:rPr>
              <a:t>MODEL</a:t>
            </a:r>
            <a:endParaRPr b="1" sz="3000">
              <a:solidFill>
                <a:schemeClr val="accent1"/>
              </a:solidFill>
              <a:latin typeface="Georgia"/>
              <a:ea typeface="Georgia"/>
              <a:cs typeface="Georgia"/>
              <a:sym typeface="Georg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p:cNvPicPr preferRelativeResize="0"/>
          <p:nvPr/>
        </p:nvPicPr>
        <p:blipFill>
          <a:blip r:embed="rId3">
            <a:alphaModFix/>
          </a:blip>
          <a:stretch>
            <a:fillRect/>
          </a:stretch>
        </p:blipFill>
        <p:spPr>
          <a:xfrm>
            <a:off x="432113" y="250900"/>
            <a:ext cx="8279773" cy="4070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idx="1" type="body"/>
          </p:nvPr>
        </p:nvSpPr>
        <p:spPr>
          <a:xfrm>
            <a:off x="311700" y="376350"/>
            <a:ext cx="8520600" cy="41925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a:p>
          <a:p>
            <a:pPr indent="0" lvl="0" marL="0" rtl="0" algn="l">
              <a:spcBef>
                <a:spcPts val="1600"/>
              </a:spcBef>
              <a:spcAft>
                <a:spcPts val="0"/>
              </a:spcAft>
              <a:buNone/>
            </a:pPr>
            <a:r>
              <a:rPr lang="tr"/>
              <a:t>A large and heterogeneous text graph which contains word nodes and document nodes so that global word co-occurrence can be explicitly modeled and graph convolution can be easily adapted, then fed into a simple two layer GCN as in (Kipf and Welling 2017).</a:t>
            </a:r>
            <a:br>
              <a:rPr lang="tr"/>
            </a:br>
            <a:endParaRPr/>
          </a:p>
          <a:p>
            <a:pPr indent="0" lvl="0" marL="45720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457200" rtl="0" algn="l">
              <a:spcBef>
                <a:spcPts val="1600"/>
              </a:spcBef>
              <a:spcAft>
                <a:spcPts val="0"/>
              </a:spcAft>
              <a:buNone/>
            </a:pPr>
            <a:r>
              <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86" name="Google Shape;86;p18"/>
          <p:cNvPicPr preferRelativeResize="0"/>
          <p:nvPr/>
        </p:nvPicPr>
        <p:blipFill>
          <a:blip r:embed="rId3">
            <a:alphaModFix/>
          </a:blip>
          <a:stretch>
            <a:fillRect/>
          </a:stretch>
        </p:blipFill>
        <p:spPr>
          <a:xfrm>
            <a:off x="1252200" y="511250"/>
            <a:ext cx="6413094" cy="1732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idx="1" type="body"/>
          </p:nvPr>
        </p:nvSpPr>
        <p:spPr>
          <a:xfrm>
            <a:off x="311700" y="543625"/>
            <a:ext cx="8520600" cy="4025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tr"/>
              <a:t>A two-layer GCN can allow message passing among nodes that are at maximum two steps away. Thus although there is no direct document-document edges in the graph, the two-layer GCN allows the information exchange between pairs of documents.</a:t>
            </a:r>
            <a:br>
              <a:rPr lang="tr"/>
            </a:br>
            <a:endParaRPr/>
          </a:p>
          <a:p>
            <a:pPr indent="-342900" lvl="0" marL="457200" rtl="0" algn="l">
              <a:spcBef>
                <a:spcPts val="0"/>
              </a:spcBef>
              <a:spcAft>
                <a:spcPts val="0"/>
              </a:spcAft>
              <a:buSzPts val="1800"/>
              <a:buChar char="●"/>
            </a:pPr>
            <a:r>
              <a:rPr lang="tr"/>
              <a:t>The second layer node (word/document) embeddings have the same size as the labels set and are fed into a softmax classifier.</a:t>
            </a:r>
            <a:br>
              <a:rPr lang="tr"/>
            </a:b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20"/>
          <p:cNvPicPr preferRelativeResize="0"/>
          <p:nvPr/>
        </p:nvPicPr>
        <p:blipFill>
          <a:blip r:embed="rId3">
            <a:alphaModFix/>
          </a:blip>
          <a:stretch>
            <a:fillRect/>
          </a:stretch>
        </p:blipFill>
        <p:spPr>
          <a:xfrm>
            <a:off x="303475" y="334525"/>
            <a:ext cx="8506001" cy="4474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sz="3000">
                <a:latin typeface="Georgia"/>
                <a:ea typeface="Georgia"/>
                <a:cs typeface="Georgia"/>
                <a:sym typeface="Georgia"/>
              </a:rPr>
              <a:t>CAN WE IMPROVE THIS?</a:t>
            </a:r>
            <a:endParaRPr sz="3000">
              <a:latin typeface="Georgia"/>
              <a:ea typeface="Georgia"/>
              <a:cs typeface="Georgia"/>
              <a:sym typeface="Georgia"/>
            </a:endParaRPr>
          </a:p>
        </p:txBody>
      </p:sp>
      <p:sp>
        <p:nvSpPr>
          <p:cNvPr id="102" name="Google Shape;102;p21"/>
          <p:cNvSpPr txBox="1"/>
          <p:nvPr>
            <p:ph idx="1" type="body"/>
          </p:nvPr>
        </p:nvSpPr>
        <p:spPr>
          <a:xfrm>
            <a:off x="311700" y="1093850"/>
            <a:ext cx="8520600" cy="34749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Clr>
                <a:srgbClr val="000000"/>
              </a:buClr>
              <a:buSzPts val="2100"/>
              <a:buChar char="●"/>
            </a:pPr>
            <a:r>
              <a:rPr b="1" lang="tr" sz="2100">
                <a:solidFill>
                  <a:srgbClr val="000000"/>
                </a:solidFill>
              </a:rPr>
              <a:t>Try out different edge weights</a:t>
            </a:r>
            <a:endParaRPr b="1" sz="2100">
              <a:solidFill>
                <a:srgbClr val="000000"/>
              </a:solidFill>
            </a:endParaRPr>
          </a:p>
          <a:p>
            <a:pPr indent="0" lvl="0" marL="457200" rtl="0" algn="l">
              <a:spcBef>
                <a:spcPts val="1600"/>
              </a:spcBef>
              <a:spcAft>
                <a:spcPts val="0"/>
              </a:spcAft>
              <a:buNone/>
            </a:pPr>
            <a:r>
              <a:rPr lang="tr"/>
              <a:t>Authors of the paper claim that the use of relation between words and documents improve the classification performance, we believe the edge weights might be calculated using in different ways instead of PMI and TF-IDF values without changing the underlying graph structure.</a:t>
            </a:r>
            <a:endParaRPr/>
          </a:p>
          <a:p>
            <a:pPr indent="0" lvl="0" marL="0" rtl="0" algn="l">
              <a:spcBef>
                <a:spcPts val="1600"/>
              </a:spcBef>
              <a:spcAft>
                <a:spcPts val="1600"/>
              </a:spcAft>
              <a:buNone/>
            </a:pPr>
            <a:r>
              <a:t/>
            </a:r>
            <a:endParaRPr b="1" sz="210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nvSpPr>
        <p:spPr>
          <a:xfrm>
            <a:off x="0" y="0"/>
            <a:ext cx="9144000" cy="50181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b="1" sz="2100">
              <a:latin typeface="Source Code Pro"/>
              <a:ea typeface="Source Code Pro"/>
              <a:cs typeface="Source Code Pro"/>
              <a:sym typeface="Source Code Pro"/>
            </a:endParaRPr>
          </a:p>
          <a:p>
            <a:pPr indent="-361950" lvl="0" marL="457200" rtl="0" algn="l">
              <a:lnSpc>
                <a:spcPct val="115000"/>
              </a:lnSpc>
              <a:spcBef>
                <a:spcPts val="1600"/>
              </a:spcBef>
              <a:spcAft>
                <a:spcPts val="0"/>
              </a:spcAft>
              <a:buSzPts val="2100"/>
              <a:buFont typeface="Source Code Pro"/>
              <a:buChar char="●"/>
            </a:pPr>
            <a:r>
              <a:rPr b="1" lang="tr" sz="2100">
                <a:latin typeface="Source Code Pro"/>
                <a:ea typeface="Source Code Pro"/>
                <a:cs typeface="Source Code Pro"/>
                <a:sym typeface="Source Code Pro"/>
              </a:rPr>
              <a:t>Effect of Number of Layers</a:t>
            </a:r>
            <a:endParaRPr b="1" sz="2100">
              <a:latin typeface="Source Code Pro"/>
              <a:ea typeface="Source Code Pro"/>
              <a:cs typeface="Source Code Pro"/>
              <a:sym typeface="Source Code Pro"/>
            </a:endParaRPr>
          </a:p>
          <a:p>
            <a:pPr indent="0" lvl="0" marL="457200" rtl="0" algn="l">
              <a:lnSpc>
                <a:spcPct val="115000"/>
              </a:lnSpc>
              <a:spcBef>
                <a:spcPts val="1600"/>
              </a:spcBef>
              <a:spcAft>
                <a:spcPts val="0"/>
              </a:spcAft>
              <a:buNone/>
            </a:pPr>
            <a:r>
              <a:rPr lang="tr" sz="1800">
                <a:solidFill>
                  <a:schemeClr val="dk2"/>
                </a:solidFill>
                <a:latin typeface="Source Code Pro"/>
                <a:ea typeface="Source Code Pro"/>
                <a:cs typeface="Source Code Pro"/>
                <a:sym typeface="Source Code Pro"/>
              </a:rPr>
              <a:t>A two-layer GCN can allow message passing among nodes that are at maximum two steps away. Thus although there is no direct document-document edges in the graph, the two-layer GCN allows the information exchange between pairs of documents. </a:t>
            </a:r>
            <a:endParaRPr sz="1800">
              <a:solidFill>
                <a:schemeClr val="dk2"/>
              </a:solidFill>
              <a:latin typeface="Source Code Pro"/>
              <a:ea typeface="Source Code Pro"/>
              <a:cs typeface="Source Code Pro"/>
              <a:sym typeface="Source Code Pro"/>
            </a:endParaRPr>
          </a:p>
          <a:p>
            <a:pPr indent="0" lvl="0" marL="457200" rtl="0" algn="l">
              <a:lnSpc>
                <a:spcPct val="115000"/>
              </a:lnSpc>
              <a:spcBef>
                <a:spcPts val="1600"/>
              </a:spcBef>
              <a:spcAft>
                <a:spcPts val="0"/>
              </a:spcAft>
              <a:buNone/>
            </a:pPr>
            <a:r>
              <a:rPr lang="tr" sz="1800">
                <a:solidFill>
                  <a:schemeClr val="dk2"/>
                </a:solidFill>
                <a:latin typeface="Source Code Pro"/>
                <a:ea typeface="Source Code Pro"/>
                <a:cs typeface="Source Code Pro"/>
                <a:sym typeface="Source Code Pro"/>
              </a:rPr>
              <a:t>A three-layer GCN can improve the performance if we can somehow incorporate 1st order weights between two documents. </a:t>
            </a:r>
            <a:endParaRPr sz="1800">
              <a:solidFill>
                <a:schemeClr val="dk2"/>
              </a:solidFill>
              <a:latin typeface="Source Code Pro"/>
              <a:ea typeface="Source Code Pro"/>
              <a:cs typeface="Source Code Pro"/>
              <a:sym typeface="Source Code Pro"/>
            </a:endParaRPr>
          </a:p>
          <a:p>
            <a:pPr indent="0" lvl="0" marL="457200" rtl="0" algn="l">
              <a:lnSpc>
                <a:spcPct val="115000"/>
              </a:lnSpc>
              <a:spcBef>
                <a:spcPts val="1600"/>
              </a:spcBef>
              <a:spcAft>
                <a:spcPts val="1600"/>
              </a:spcAft>
              <a:buNone/>
            </a:pPr>
            <a:r>
              <a:t/>
            </a:r>
            <a:endParaRPr b="1" sz="2100">
              <a:solidFill>
                <a:srgbClr val="D9D9D9"/>
              </a:solidFill>
              <a:latin typeface="Source Code Pro"/>
              <a:ea typeface="Source Code Pro"/>
              <a:cs typeface="Source Code Pro"/>
              <a:sym typeface="Source Code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idx="1" type="body"/>
          </p:nvPr>
        </p:nvSpPr>
        <p:spPr>
          <a:xfrm>
            <a:off x="311700" y="448100"/>
            <a:ext cx="8520600" cy="41517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b="1" sz="2100">
              <a:solidFill>
                <a:srgbClr val="000000"/>
              </a:solidFill>
            </a:endParaRPr>
          </a:p>
          <a:p>
            <a:pPr indent="-361950" lvl="0" marL="457200" rtl="0" algn="l">
              <a:spcBef>
                <a:spcPts val="1600"/>
              </a:spcBef>
              <a:spcAft>
                <a:spcPts val="0"/>
              </a:spcAft>
              <a:buClr>
                <a:srgbClr val="000000"/>
              </a:buClr>
              <a:buSzPts val="2100"/>
              <a:buFont typeface="Source Code Pro"/>
              <a:buChar char="●"/>
            </a:pPr>
            <a:r>
              <a:rPr b="1" lang="tr" sz="2100">
                <a:solidFill>
                  <a:srgbClr val="000000"/>
                </a:solidFill>
              </a:rPr>
              <a:t>Attention Mechanism</a:t>
            </a:r>
            <a:endParaRPr b="1" sz="2100">
              <a:solidFill>
                <a:srgbClr val="000000"/>
              </a:solidFill>
            </a:endParaRPr>
          </a:p>
          <a:p>
            <a:pPr indent="0" lvl="0" marL="457200" rtl="0" algn="l">
              <a:spcBef>
                <a:spcPts val="1600"/>
              </a:spcBef>
              <a:spcAft>
                <a:spcPts val="0"/>
              </a:spcAft>
              <a:buNone/>
            </a:pPr>
            <a:r>
              <a:rPr lang="tr"/>
              <a:t>Future directions include improving the classification performance using attention mechanisms (Velickoviˇc et al. 2018) and developing unsupervised text GCN framework for representation learning on largescale unlabeled text data. </a:t>
            </a:r>
            <a:endParaRPr b="1" sz="2100">
              <a:solidFill>
                <a:srgbClr val="000000"/>
              </a:solidFill>
            </a:endParaRPr>
          </a:p>
          <a:p>
            <a:pPr indent="0" lvl="0" marL="457200" rtl="0" algn="l">
              <a:spcBef>
                <a:spcPts val="1600"/>
              </a:spcBef>
              <a:spcAft>
                <a:spcPts val="0"/>
              </a:spcAft>
              <a:buNone/>
            </a:pPr>
            <a:r>
              <a:t/>
            </a:r>
            <a:endParaRPr/>
          </a:p>
          <a:p>
            <a:pPr indent="0" lvl="0" marL="457200" rtl="0" algn="l">
              <a:spcBef>
                <a:spcPts val="1600"/>
              </a:spcBef>
              <a:spcAft>
                <a:spcPts val="0"/>
              </a:spcAft>
              <a:buNone/>
            </a:pPr>
            <a:r>
              <a:t/>
            </a:r>
            <a:endParaRPr b="1" sz="2100">
              <a:solidFill>
                <a:srgbClr val="D9D9D9"/>
              </a:solidFill>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4"/>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sz="3000">
                <a:latin typeface="Georgia"/>
                <a:ea typeface="Georgia"/>
                <a:cs typeface="Georgia"/>
                <a:sym typeface="Georgia"/>
              </a:rPr>
              <a:t>DATASETS - R8/R52 </a:t>
            </a:r>
            <a:endParaRPr sz="3000">
              <a:latin typeface="Georgia"/>
              <a:ea typeface="Georgia"/>
              <a:cs typeface="Georgia"/>
              <a:sym typeface="Georgia"/>
            </a:endParaRPr>
          </a:p>
        </p:txBody>
      </p:sp>
      <p:sp>
        <p:nvSpPr>
          <p:cNvPr id="118" name="Google Shape;118;p24"/>
          <p:cNvSpPr txBox="1"/>
          <p:nvPr>
            <p:ph idx="1" type="body"/>
          </p:nvPr>
        </p:nvSpPr>
        <p:spPr>
          <a:xfrm>
            <a:off x="311700" y="1228675"/>
            <a:ext cx="8520600" cy="33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tr"/>
              <a:t>Two subsets of the Reuters 21578 dataset. R8 has 8 categories, and was split to 5,485 training and 2,189 test documents. R52 has 52 categories, and was split to 6,532 training and 2,568 test documents</a:t>
            </a:r>
            <a:endParaRPr/>
          </a:p>
          <a:p>
            <a:pPr indent="-342900" lvl="0" marL="457200" rtl="0" algn="l">
              <a:spcBef>
                <a:spcPts val="0"/>
              </a:spcBef>
              <a:spcAft>
                <a:spcPts val="0"/>
              </a:spcAft>
              <a:buSzPts val="1800"/>
              <a:buChar char="●"/>
            </a:pPr>
            <a:r>
              <a:rPr lang="tr"/>
              <a:t>Previous approaches worked well on this datasets, thus we are planning to verify if our approach works on this well known dataset.</a:t>
            </a:r>
            <a:endParaRPr/>
          </a:p>
          <a:p>
            <a:pPr indent="0" lvl="0" marL="457200" rtl="0" algn="l">
              <a:spcBef>
                <a:spcPts val="1600"/>
              </a:spcBef>
              <a:spcAft>
                <a:spcPts val="1600"/>
              </a:spcAft>
              <a:buNone/>
            </a:pPr>
            <a:r>
              <a:t/>
            </a:r>
            <a:endParaRPr b="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5"/>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sz="3000">
                <a:latin typeface="Georgia"/>
                <a:ea typeface="Georgia"/>
                <a:cs typeface="Georgia"/>
                <a:sym typeface="Georgia"/>
              </a:rPr>
              <a:t>DATASETS - Ohsumed/MR</a:t>
            </a:r>
            <a:endParaRPr sz="3000">
              <a:latin typeface="Georgia"/>
              <a:ea typeface="Georgia"/>
              <a:cs typeface="Georgia"/>
              <a:sym typeface="Georgia"/>
            </a:endParaRPr>
          </a:p>
          <a:p>
            <a:pPr indent="0" lvl="0" marL="0" rtl="0" algn="l">
              <a:spcBef>
                <a:spcPts val="0"/>
              </a:spcBef>
              <a:spcAft>
                <a:spcPts val="0"/>
              </a:spcAft>
              <a:buNone/>
            </a:pPr>
            <a:r>
              <a:t/>
            </a:r>
            <a:endParaRPr/>
          </a:p>
        </p:txBody>
      </p:sp>
      <p:sp>
        <p:nvSpPr>
          <p:cNvPr id="124" name="Google Shape;124;p25"/>
          <p:cNvSpPr txBox="1"/>
          <p:nvPr>
            <p:ph idx="1" type="body"/>
          </p:nvPr>
        </p:nvSpPr>
        <p:spPr>
          <a:xfrm>
            <a:off x="311700" y="1228675"/>
            <a:ext cx="8520600" cy="33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tr"/>
              <a:t>The Ohsumed corpus2 is from the MEDLINE database, which is a bibliographic database of important medical literature maintained by the National Library of Medicine.</a:t>
            </a:r>
            <a:endParaRPr/>
          </a:p>
          <a:p>
            <a:pPr indent="-342900" lvl="0" marL="457200" rtl="0" algn="l">
              <a:spcBef>
                <a:spcPts val="0"/>
              </a:spcBef>
              <a:spcAft>
                <a:spcPts val="0"/>
              </a:spcAft>
              <a:buSzPts val="1800"/>
              <a:buChar char="●"/>
            </a:pPr>
            <a:r>
              <a:rPr lang="tr"/>
              <a:t>MR is a movie review dataset for binary sentiment classification, in which each review only contains one sentence (Pang and Lee 2005). The corpus has 5,331 positive and 5,331 negative reviews. We used the training/test split in (Tang, Qu, and Mei 2015)</a:t>
            </a:r>
            <a:endParaRPr/>
          </a:p>
          <a:p>
            <a:pPr indent="-342900" lvl="0" marL="457200" rtl="0" algn="l">
              <a:spcBef>
                <a:spcPts val="0"/>
              </a:spcBef>
              <a:spcAft>
                <a:spcPts val="0"/>
              </a:spcAft>
              <a:buSzPts val="1800"/>
              <a:buChar char="●"/>
            </a:pPr>
            <a:r>
              <a:rPr lang="tr"/>
              <a:t>We are planning to improve the scores on these datasets.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6"/>
          <p:cNvSpPr txBox="1"/>
          <p:nvPr>
            <p:ph type="title"/>
          </p:nvPr>
        </p:nvSpPr>
        <p:spPr>
          <a:xfrm>
            <a:off x="311700" y="292850"/>
            <a:ext cx="8520600" cy="80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sz="3000">
                <a:latin typeface="Georgia"/>
                <a:ea typeface="Georgia"/>
                <a:cs typeface="Georgia"/>
                <a:sym typeface="Georgia"/>
              </a:rPr>
              <a:t>References</a:t>
            </a:r>
            <a:endParaRPr/>
          </a:p>
        </p:txBody>
      </p:sp>
      <p:sp>
        <p:nvSpPr>
          <p:cNvPr id="130" name="Google Shape;130;p26"/>
          <p:cNvSpPr txBox="1"/>
          <p:nvPr>
            <p:ph idx="1" type="body"/>
          </p:nvPr>
        </p:nvSpPr>
        <p:spPr>
          <a:xfrm>
            <a:off x="387900" y="1228675"/>
            <a:ext cx="8520600" cy="334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tr"/>
              <a:t>Graph Convolutional Networks for Text Classification: </a:t>
            </a:r>
            <a:r>
              <a:rPr lang="tr" u="sng">
                <a:solidFill>
                  <a:schemeClr val="hlink"/>
                </a:solidFill>
                <a:hlinkClick r:id="rId3"/>
              </a:rPr>
              <a:t>https://arxiv.org/abs/1809.05679</a:t>
            </a:r>
            <a:endParaRPr/>
          </a:p>
          <a:p>
            <a:pPr indent="-342900" lvl="0" marL="457200" rtl="0" algn="l">
              <a:spcBef>
                <a:spcPts val="0"/>
              </a:spcBef>
              <a:spcAft>
                <a:spcPts val="0"/>
              </a:spcAft>
              <a:buSzPts val="1800"/>
              <a:buChar char="●"/>
            </a:pPr>
            <a:r>
              <a:rPr lang="tr"/>
              <a:t>[Kipf and Welling 2017]  Kipf, T. N., and Welling, M.  2017.Semi-supervised classification with graph convolutional networks. InICLR.[Le and Mikolov 201</a:t>
            </a:r>
            <a:endParaRPr/>
          </a:p>
          <a:p>
            <a:pPr indent="0" lvl="0" marL="45720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