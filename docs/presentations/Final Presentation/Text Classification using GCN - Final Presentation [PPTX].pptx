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6" r:id="rId4"/>
    <p:sldMasterId id="214748366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y="5143500" cx="9144000"/>
  <p:notesSz cx="6858000" cy="9144000"/>
  <p:embeddedFontLst>
    <p:embeddedFont>
      <p:font typeface="Titillium Web"/>
      <p:regular r:id="rId45"/>
      <p:bold r:id="rId46"/>
      <p:italic r:id="rId47"/>
      <p:boldItalic r:id="rId48"/>
    </p:embeddedFont>
    <p:embeddedFont>
      <p:font typeface="Titillium Web Light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596DB81-3846-431F-B4B0-A541C502D99A}">
  <a:tblStyle styleId="{8596DB81-3846-431F-B4B0-A541C502D99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font" Target="fonts/TitilliumWeb-bold.fntdata"/><Relationship Id="rId45" Type="http://schemas.openxmlformats.org/officeDocument/2006/relationships/font" Target="fonts/TitilliumWeb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TitilliumWeb-boldItalic.fntdata"/><Relationship Id="rId47" Type="http://schemas.openxmlformats.org/officeDocument/2006/relationships/font" Target="fonts/TitilliumWeb-italic.fntdata"/><Relationship Id="rId49" Type="http://schemas.openxmlformats.org/officeDocument/2006/relationships/font" Target="fonts/TitilliumWebLight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TitilliumWebLight-italic.fntdata"/><Relationship Id="rId50" Type="http://schemas.openxmlformats.org/officeDocument/2006/relationships/font" Target="fonts/TitilliumWebLight-bold.fntdata"/><Relationship Id="rId52" Type="http://schemas.openxmlformats.org/officeDocument/2006/relationships/font" Target="fonts/TitilliumWebLight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5f391192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5f391192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8559b6fbfd_0_17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8559b6fbfd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7810b1dafe_0_5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7810b1daf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78170b1eba_0_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78170b1eb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7810b1dafe_0_1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7810b1dafe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7810b1dafe_0_1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7810b1dafe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7810b1dafe_0_13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7810b1dafe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7810b1dafe_0_1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7810b1dafe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7810b1dafe_0_15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7810b1dafe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8559b6fbfd_0_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8559b6fbf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8559b6fbfd_0_1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8559b6fbf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7810b1dafe_0_15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7810b1dafe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8559b6fbfd_0_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8559b6fbf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8559b6fbfd_0_3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8559b6fbfd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7810b1dafe_0_17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7810b1dafe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8559b6fbfd_0_4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8559b6fbf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8559b6fbfd_0_6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8559b6fbfd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8559b6fbfd_0_6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8559b6fbfd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78170b1eba_0_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78170b1eb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8559b6fbfd_0_9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8559b6fbfd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8559b6fbfd_0_4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8559b6fbfd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860aff6480_0_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860aff648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8559b6fbfd_0_5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8559b6fbfd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8559b6fbfd_0_10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8559b6fbfd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8559b6fbfd_0_11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8559b6fbf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8559b6fbfd_0_11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8559b6fbfd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8559b6fbfd_0_8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8559b6fbfd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8559b6fbfd_0_15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8559b6fbfd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8559b6fbfd_0_15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8559b6fbfd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8559b6fbfd_0_17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8559b6fbfd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8559b6fbfd_0_8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8559b6fbfd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7810b1dafe_0_23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7810b1dafe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5ed75ccf_02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5ed75ccf_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8559b6fbfd_0_16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8559b6fbfd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8559b6fbfd_0_24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8559b6fbfd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8559b6fbfd_0_25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8559b6fbfd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8559b6fbfd_0_23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8559b6fbfd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685800" y="743850"/>
            <a:ext cx="5796900" cy="115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/>
          <p:nvPr>
            <p:ph type="ctrTitle"/>
          </p:nvPr>
        </p:nvSpPr>
        <p:spPr>
          <a:xfrm>
            <a:off x="685800" y="973750"/>
            <a:ext cx="5796900" cy="11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685800" y="2230450"/>
            <a:ext cx="5796900" cy="46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318775" y="1036050"/>
            <a:ext cx="5163900" cy="366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44500" lvl="0" marL="457200" rtl="0">
              <a:spcBef>
                <a:spcPts val="600"/>
              </a:spcBef>
              <a:spcAft>
                <a:spcPts val="0"/>
              </a:spcAft>
              <a:buSzPts val="3400"/>
              <a:buChar char="▰"/>
              <a:defRPr sz="3400"/>
            </a:lvl1pPr>
            <a:lvl2pPr indent="-444500" lvl="1" marL="9144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2pPr>
            <a:lvl3pPr indent="-444500" lvl="2" marL="13716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3pPr>
            <a:lvl4pPr indent="-444500" lvl="3" marL="18288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4pPr>
            <a:lvl5pPr indent="-444500" lvl="4" marL="22860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5pPr>
            <a:lvl6pPr indent="-444500" lvl="5" marL="27432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6pPr>
            <a:lvl7pPr indent="-444500" lvl="6" marL="32004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7pPr>
            <a:lvl8pPr indent="-444500" lvl="7" marL="36576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8pPr>
            <a:lvl9pPr indent="-444500" lvl="8" marL="411480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9pPr>
          </a:lstStyle>
          <a:p/>
        </p:txBody>
      </p:sp>
      <p:sp>
        <p:nvSpPr>
          <p:cNvPr id="19" name="Google Shape;19;p4"/>
          <p:cNvSpPr txBox="1"/>
          <p:nvPr/>
        </p:nvSpPr>
        <p:spPr>
          <a:xfrm>
            <a:off x="604350" y="627175"/>
            <a:ext cx="8709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600">
                <a:solidFill>
                  <a:srgbClr val="7DFFB1"/>
                </a:solidFill>
                <a:latin typeface="Titillium Web"/>
                <a:ea typeface="Titillium Web"/>
                <a:cs typeface="Titillium Web"/>
                <a:sym typeface="Titillium Web"/>
              </a:rPr>
              <a:t>“</a:t>
            </a:r>
            <a:endParaRPr b="1" sz="9600">
              <a:solidFill>
                <a:srgbClr val="7DFFB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/>
          <p:nvPr>
            <p:ph type="title"/>
          </p:nvPr>
        </p:nvSpPr>
        <p:spPr>
          <a:xfrm>
            <a:off x="457200" y="434575"/>
            <a:ext cx="60255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457200" y="1428748"/>
            <a:ext cx="6025500" cy="314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SzPts val="2400"/>
              <a:buChar char="▰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/>
          <p:nvPr>
            <p:ph type="title"/>
          </p:nvPr>
        </p:nvSpPr>
        <p:spPr>
          <a:xfrm>
            <a:off x="457200" y="434575"/>
            <a:ext cx="60255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457200" y="1428750"/>
            <a:ext cx="2924700" cy="315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30" name="Google Shape;30;p6"/>
          <p:cNvSpPr txBox="1"/>
          <p:nvPr>
            <p:ph idx="2" type="body"/>
          </p:nvPr>
        </p:nvSpPr>
        <p:spPr>
          <a:xfrm>
            <a:off x="3558095" y="1428750"/>
            <a:ext cx="2924700" cy="315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7"/>
          <p:cNvSpPr txBox="1"/>
          <p:nvPr>
            <p:ph type="title"/>
          </p:nvPr>
        </p:nvSpPr>
        <p:spPr>
          <a:xfrm>
            <a:off x="457200" y="434575"/>
            <a:ext cx="60255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457200" y="1428750"/>
            <a:ext cx="1851600" cy="332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▰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2544155" y="1428750"/>
            <a:ext cx="1851600" cy="332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▰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7" name="Google Shape;37;p7"/>
          <p:cNvSpPr txBox="1"/>
          <p:nvPr>
            <p:ph idx="3" type="body"/>
          </p:nvPr>
        </p:nvSpPr>
        <p:spPr>
          <a:xfrm>
            <a:off x="4631111" y="1428750"/>
            <a:ext cx="1851600" cy="332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▰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8"/>
          <p:cNvSpPr txBox="1"/>
          <p:nvPr>
            <p:ph type="title"/>
          </p:nvPr>
        </p:nvSpPr>
        <p:spPr>
          <a:xfrm>
            <a:off x="457200" y="434575"/>
            <a:ext cx="60255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9"/>
          <p:cNvSpPr txBox="1"/>
          <p:nvPr>
            <p:ph idx="1" type="body"/>
          </p:nvPr>
        </p:nvSpPr>
        <p:spPr>
          <a:xfrm>
            <a:off x="457200" y="4406300"/>
            <a:ext cx="6025500" cy="5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0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2"/>
          <p:cNvSpPr txBox="1"/>
          <p:nvPr>
            <p:ph type="ctrTitle"/>
          </p:nvPr>
        </p:nvSpPr>
        <p:spPr>
          <a:xfrm>
            <a:off x="685800" y="743850"/>
            <a:ext cx="5796900" cy="115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>
            <p:ph type="ctrTitle"/>
          </p:nvPr>
        </p:nvSpPr>
        <p:spPr>
          <a:xfrm>
            <a:off x="685800" y="973750"/>
            <a:ext cx="5796900" cy="11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85800" y="2230450"/>
            <a:ext cx="5796900" cy="46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1318775" y="1036050"/>
            <a:ext cx="5163900" cy="366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44500" lvl="0" marL="457200" rtl="0">
              <a:spcBef>
                <a:spcPts val="600"/>
              </a:spcBef>
              <a:spcAft>
                <a:spcPts val="0"/>
              </a:spcAft>
              <a:buSzPts val="3400"/>
              <a:buChar char="▰"/>
              <a:defRPr sz="3400"/>
            </a:lvl1pPr>
            <a:lvl2pPr indent="-444500" lvl="1" marL="9144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2pPr>
            <a:lvl3pPr indent="-444500" lvl="2" marL="13716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3pPr>
            <a:lvl4pPr indent="-444500" lvl="3" marL="18288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4pPr>
            <a:lvl5pPr indent="-444500" lvl="4" marL="22860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5pPr>
            <a:lvl6pPr indent="-444500" lvl="5" marL="27432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6pPr>
            <a:lvl7pPr indent="-444500" lvl="6" marL="32004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7pPr>
            <a:lvl8pPr indent="-444500" lvl="7" marL="36576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8pPr>
            <a:lvl9pPr indent="-444500" lvl="8" marL="41148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9pPr>
          </a:lstStyle>
          <a:p/>
        </p:txBody>
      </p:sp>
      <p:sp>
        <p:nvSpPr>
          <p:cNvPr id="64" name="Google Shape;64;p14"/>
          <p:cNvSpPr txBox="1"/>
          <p:nvPr/>
        </p:nvSpPr>
        <p:spPr>
          <a:xfrm>
            <a:off x="604350" y="627175"/>
            <a:ext cx="8709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600">
                <a:solidFill>
                  <a:srgbClr val="7DFFB1"/>
                </a:solidFill>
                <a:latin typeface="Titillium Web"/>
                <a:ea typeface="Titillium Web"/>
                <a:cs typeface="Titillium Web"/>
                <a:sym typeface="Titillium Web"/>
              </a:rPr>
              <a:t>“</a:t>
            </a:r>
            <a:endParaRPr b="1" sz="9600">
              <a:solidFill>
                <a:srgbClr val="7DFFB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>
            <p:ph type="title"/>
          </p:nvPr>
        </p:nvSpPr>
        <p:spPr>
          <a:xfrm>
            <a:off x="457200" y="434575"/>
            <a:ext cx="60255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457200" y="1428748"/>
            <a:ext cx="6025500" cy="314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rtl="0">
              <a:spcBef>
                <a:spcPts val="600"/>
              </a:spcBef>
              <a:spcAft>
                <a:spcPts val="0"/>
              </a:spcAft>
              <a:buSzPts val="2400"/>
              <a:buChar char="▰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 txBox="1"/>
          <p:nvPr>
            <p:ph type="title"/>
          </p:nvPr>
        </p:nvSpPr>
        <p:spPr>
          <a:xfrm>
            <a:off x="457200" y="434575"/>
            <a:ext cx="60255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457200" y="1428750"/>
            <a:ext cx="2924700" cy="315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75" name="Google Shape;75;p16"/>
          <p:cNvSpPr txBox="1"/>
          <p:nvPr>
            <p:ph idx="2" type="body"/>
          </p:nvPr>
        </p:nvSpPr>
        <p:spPr>
          <a:xfrm>
            <a:off x="3558095" y="1428750"/>
            <a:ext cx="2924700" cy="315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/>
          <p:cNvSpPr txBox="1"/>
          <p:nvPr>
            <p:ph type="title"/>
          </p:nvPr>
        </p:nvSpPr>
        <p:spPr>
          <a:xfrm>
            <a:off x="457200" y="434575"/>
            <a:ext cx="60255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457200" y="1428750"/>
            <a:ext cx="1851600" cy="332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▰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81" name="Google Shape;81;p17"/>
          <p:cNvSpPr txBox="1"/>
          <p:nvPr>
            <p:ph idx="2" type="body"/>
          </p:nvPr>
        </p:nvSpPr>
        <p:spPr>
          <a:xfrm>
            <a:off x="2544155" y="1428750"/>
            <a:ext cx="1851600" cy="332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▰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82" name="Google Shape;82;p17"/>
          <p:cNvSpPr txBox="1"/>
          <p:nvPr>
            <p:ph idx="3" type="body"/>
          </p:nvPr>
        </p:nvSpPr>
        <p:spPr>
          <a:xfrm>
            <a:off x="4631111" y="1428750"/>
            <a:ext cx="1851600" cy="332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▰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8"/>
          <p:cNvSpPr txBox="1"/>
          <p:nvPr>
            <p:ph type="title"/>
          </p:nvPr>
        </p:nvSpPr>
        <p:spPr>
          <a:xfrm>
            <a:off x="457200" y="434575"/>
            <a:ext cx="60255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457200" y="4406300"/>
            <a:ext cx="6025500" cy="5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91" name="Google Shape;91;p19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0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gradFill>
          <a:gsLst>
            <a:gs pos="0">
              <a:srgbClr val="4E29AA"/>
            </a:gs>
            <a:gs pos="100000">
              <a:srgbClr val="1E123D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434575"/>
            <a:ext cx="6025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b="1" sz="3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b="1" sz="3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b="1" sz="3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b="1" sz="3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b="1" sz="3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b="1" sz="3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b="1" sz="3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b="1" sz="3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b="1" sz="3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428748"/>
            <a:ext cx="60255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Clr>
                <a:srgbClr val="7DFFB1"/>
              </a:buClr>
              <a:buSzPts val="2400"/>
              <a:buFont typeface="Titillium Web Light"/>
              <a:buChar char="▰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○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■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●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○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■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●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○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■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lvl="1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lvl="2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lvl="3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lvl="4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lvl="5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lvl="6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lvl="7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lvl="8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gradFill>
          <a:gsLst>
            <a:gs pos="0">
              <a:srgbClr val="7DFFB1"/>
            </a:gs>
            <a:gs pos="12000">
              <a:srgbClr val="00AAC6"/>
            </a:gs>
            <a:gs pos="51000">
              <a:srgbClr val="0037B3"/>
            </a:gs>
            <a:gs pos="100000">
              <a:srgbClr val="00001A"/>
            </a:gs>
          </a:gsLst>
          <a:lin ang="13500032" scaled="0"/>
        </a:gra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type="title"/>
          </p:nvPr>
        </p:nvSpPr>
        <p:spPr>
          <a:xfrm>
            <a:off x="457200" y="434575"/>
            <a:ext cx="6025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b="1" sz="3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b="1" sz="3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b="1" sz="3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b="1" sz="3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b="1" sz="3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b="1" sz="3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b="1" sz="3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b="1" sz="3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b="1" sz="3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/>
        </p:txBody>
      </p:sp>
      <p:sp>
        <p:nvSpPr>
          <p:cNvPr id="52" name="Google Shape;52;p11"/>
          <p:cNvSpPr txBox="1"/>
          <p:nvPr>
            <p:ph idx="1" type="body"/>
          </p:nvPr>
        </p:nvSpPr>
        <p:spPr>
          <a:xfrm>
            <a:off x="457200" y="1428748"/>
            <a:ext cx="60255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rtl="0">
              <a:spcBef>
                <a:spcPts val="600"/>
              </a:spcBef>
              <a:spcAft>
                <a:spcPts val="0"/>
              </a:spcAft>
              <a:buClr>
                <a:srgbClr val="7DFFB1"/>
              </a:buClr>
              <a:buSzPts val="2400"/>
              <a:buFont typeface="Titillium Web Light"/>
              <a:buChar char="▰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○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■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●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○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■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●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○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■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lvl="1" rtl="0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lvl="2" rtl="0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lvl="3" rtl="0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lvl="4" rtl="0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lvl="5" rtl="0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lvl="6" rtl="0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lvl="7" rtl="0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lvl="8" rtl="0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hyperlink" Target="mailto:ozgul@bu.edu" TargetMode="External"/><Relationship Id="rId4" Type="http://schemas.openxmlformats.org/officeDocument/2006/relationships/hyperlink" Target="mailto:berk.sudan.96@gmail.com" TargetMode="External"/><Relationship Id="rId5" Type="http://schemas.openxmlformats.org/officeDocument/2006/relationships/hyperlink" Target="mailto:onur.kilicoglu@boun.edu.tr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hyperlink" Target="https://www.experoinc.com/post/node-classification-by-graph-convolutional-network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hyperlink" Target="https://www.experoinc.com/post/node-classification-by-graph-convolutional-network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experoinc.com/post/node-classification-by-graph-convolutional-network" TargetMode="External"/><Relationship Id="rId4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Relationship Id="rId4" Type="http://schemas.openxmlformats.org/officeDocument/2006/relationships/hyperlink" Target="https://ai.science/e/gat-graph-attention-networks--2019-04-15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github.com/guneykan/gcn_text_categorization" TargetMode="External"/><Relationship Id="rId4" Type="http://schemas.openxmlformats.org/officeDocument/2006/relationships/hyperlink" Target="https://github.com/inzva/Text-Classification-Graph-CNNs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arxiv.org/abs/1809.05679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1"/>
          <p:cNvSpPr txBox="1"/>
          <p:nvPr>
            <p:ph type="ctrTitle"/>
          </p:nvPr>
        </p:nvSpPr>
        <p:spPr>
          <a:xfrm>
            <a:off x="261600" y="192375"/>
            <a:ext cx="6055500" cy="38376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900"/>
              <a:t>Text Classification using </a:t>
            </a:r>
            <a:r>
              <a:rPr lang="en" sz="5900"/>
              <a:t>Graph Neural Networks</a:t>
            </a:r>
            <a:endParaRPr sz="5900"/>
          </a:p>
        </p:txBody>
      </p:sp>
      <p:sp>
        <p:nvSpPr>
          <p:cNvPr id="100" name="Google Shape;100;p21"/>
          <p:cNvSpPr txBox="1"/>
          <p:nvPr>
            <p:ph idx="4294967295" type="subTitle"/>
          </p:nvPr>
        </p:nvSpPr>
        <p:spPr>
          <a:xfrm>
            <a:off x="6645600" y="3626575"/>
            <a:ext cx="2260200" cy="142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Güneykan Özgül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Berk Sudan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Onur Kılıçoğlu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1" name="Google Shape;101;p21"/>
          <p:cNvSpPr txBox="1"/>
          <p:nvPr>
            <p:ph idx="4294967295" type="subTitle"/>
          </p:nvPr>
        </p:nvSpPr>
        <p:spPr>
          <a:xfrm>
            <a:off x="2274600" y="4640825"/>
            <a:ext cx="4594800" cy="3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Titillium Web"/>
                <a:ea typeface="Titillium Web"/>
                <a:cs typeface="Titillium Web"/>
                <a:sym typeface="Titillium Web"/>
              </a:rPr>
              <a:t>Inzva AI Projects #4 - Showcase - 30.05.2020</a:t>
            </a:r>
            <a:endParaRPr sz="18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0124D"/>
            </a:gs>
            <a:gs pos="100000">
              <a:srgbClr val="1E123D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107" name="Google Shape;107;p22"/>
          <p:cNvSpPr txBox="1"/>
          <p:nvPr>
            <p:ph idx="4294967295" type="title"/>
          </p:nvPr>
        </p:nvSpPr>
        <p:spPr>
          <a:xfrm>
            <a:off x="594150" y="213000"/>
            <a:ext cx="7955700" cy="64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Team</a:t>
            </a:r>
            <a:endParaRPr/>
          </a:p>
        </p:txBody>
      </p:sp>
      <p:sp>
        <p:nvSpPr>
          <p:cNvPr id="108" name="Google Shape;108;p22"/>
          <p:cNvSpPr txBox="1"/>
          <p:nvPr>
            <p:ph idx="4294967295" type="body"/>
          </p:nvPr>
        </p:nvSpPr>
        <p:spPr>
          <a:xfrm>
            <a:off x="460350" y="1098625"/>
            <a:ext cx="8280000" cy="33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Güneykan Özgül,  </a:t>
            </a:r>
            <a:r>
              <a:rPr lang="en"/>
              <a:t>Boston Univ. Physics Graduate Student,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R&amp;D Engineer at Pointr: Deep Location Company </a:t>
            </a:r>
            <a:r>
              <a:rPr lang="en" u="sng">
                <a:solidFill>
                  <a:schemeClr val="hlink"/>
                </a:solidFill>
                <a:hlinkClick r:id="rId3"/>
              </a:rPr>
              <a:t>ozgul@bu.edu</a:t>
            </a:r>
            <a:r>
              <a:rPr lang="en"/>
              <a:t>   </a:t>
            </a:r>
            <a:r>
              <a:rPr lang="en" u="sng"/>
              <a:t>guneykan.ozgul@pointrlabs.com</a:t>
            </a:r>
            <a:endParaRPr u="sng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Berk Sudan</a:t>
            </a:r>
            <a:r>
              <a:rPr lang="en"/>
              <a:t>, YTU Computer Engineering Alumni, Big Data Engineer</a:t>
            </a:r>
            <a:r>
              <a:rPr lang="en"/>
              <a:t>  @TÜBİTAK, </a:t>
            </a:r>
            <a:r>
              <a:rPr lang="en" u="sng">
                <a:hlinkClick r:id="rId4"/>
              </a:rPr>
              <a:t>berk.sudan.96@gmail.com</a:t>
            </a:r>
            <a:r>
              <a:rPr lang="en"/>
              <a:t>         </a:t>
            </a:r>
            <a:r>
              <a:rPr lang="en"/>
              <a:t>           </a:t>
            </a:r>
            <a:r>
              <a:rPr lang="en"/>
              <a:t>  </a:t>
            </a:r>
            <a:endParaRPr u="sng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Onur Kılıçoğlu</a:t>
            </a:r>
            <a:r>
              <a:rPr lang="en"/>
              <a:t>, BOUN Computer Engineering Student, </a:t>
            </a:r>
            <a:r>
              <a:rPr lang="en" u="sng">
                <a:hlinkClick r:id="rId5"/>
              </a:rPr>
              <a:t>onur.kilicoglu@boun.edu.tr</a:t>
            </a:r>
            <a:endParaRPr u="sng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idx="4294967295" type="ctrTitle"/>
          </p:nvPr>
        </p:nvSpPr>
        <p:spPr>
          <a:xfrm>
            <a:off x="291075" y="2411475"/>
            <a:ext cx="5796900" cy="775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14" name="Google Shape;114;p23"/>
          <p:cNvSpPr txBox="1"/>
          <p:nvPr>
            <p:ph idx="4294967295" type="subTitle"/>
          </p:nvPr>
        </p:nvSpPr>
        <p:spPr>
          <a:xfrm>
            <a:off x="291075" y="3186975"/>
            <a:ext cx="5796900" cy="46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Text Classification &amp; Representation</a:t>
            </a:r>
            <a:endParaRPr/>
          </a:p>
        </p:txBody>
      </p:sp>
      <p:sp>
        <p:nvSpPr>
          <p:cNvPr id="115" name="Google Shape;115;p23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0124D"/>
            </a:gs>
            <a:gs pos="100000">
              <a:srgbClr val="1E123D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594150" y="213000"/>
            <a:ext cx="7955700" cy="64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 Classification</a:t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460350" y="1098625"/>
            <a:ext cx="8223300" cy="314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</a:pPr>
            <a:r>
              <a:rPr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Text classification, a </a:t>
            </a:r>
            <a:r>
              <a:rPr b="1"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f</a:t>
            </a:r>
            <a:r>
              <a:rPr b="1"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undamental problem </a:t>
            </a:r>
            <a:r>
              <a:rPr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in NLP</a:t>
            </a:r>
            <a:endParaRPr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</a:pPr>
            <a:r>
              <a:rPr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Some T</a:t>
            </a:r>
            <a:r>
              <a:rPr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ext Classification </a:t>
            </a:r>
            <a:r>
              <a:rPr lang="en">
                <a:latin typeface="Titillium Web"/>
                <a:ea typeface="Titillium Web"/>
                <a:cs typeface="Titillium Web"/>
                <a:sym typeface="Titillium Web"/>
              </a:rPr>
              <a:t>Applications: </a:t>
            </a:r>
            <a:endParaRPr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Document Organization</a:t>
            </a:r>
            <a:endParaRPr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News Filtering</a:t>
            </a:r>
            <a:endParaRPr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Spam Detection</a:t>
            </a:r>
            <a:endParaRPr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Opinion Mining</a:t>
            </a:r>
            <a:endParaRPr/>
          </a:p>
        </p:txBody>
      </p:sp>
      <p:sp>
        <p:nvSpPr>
          <p:cNvPr id="122" name="Google Shape;122;p24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0124D"/>
            </a:gs>
            <a:gs pos="100000">
              <a:srgbClr val="1E123D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>
            <a:off x="594150" y="213000"/>
            <a:ext cx="7955700" cy="64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 Representation</a:t>
            </a:r>
            <a:endParaRPr/>
          </a:p>
        </p:txBody>
      </p:sp>
      <p:sp>
        <p:nvSpPr>
          <p:cNvPr id="128" name="Google Shape;128;p25"/>
          <p:cNvSpPr txBox="1"/>
          <p:nvPr>
            <p:ph idx="1" type="body"/>
          </p:nvPr>
        </p:nvSpPr>
        <p:spPr>
          <a:xfrm>
            <a:off x="460350" y="1098625"/>
            <a:ext cx="8271900" cy="37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</a:pPr>
            <a:r>
              <a:rPr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Text representation, an essential </a:t>
            </a:r>
            <a:r>
              <a:rPr b="1"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intermediate step for classification</a:t>
            </a:r>
            <a:endParaRPr b="1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</a:pPr>
            <a:r>
              <a:rPr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Traditional methods use hand-crafted features such as sparse lexical features </a:t>
            </a:r>
            <a:endParaRPr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B</a:t>
            </a:r>
            <a:r>
              <a:rPr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ag-of-Words </a:t>
            </a:r>
            <a:endParaRPr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N-grams</a:t>
            </a:r>
            <a:endParaRPr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29" name="Google Shape;129;p25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0124D"/>
            </a:gs>
            <a:gs pos="100000">
              <a:srgbClr val="1E123D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594150" y="213000"/>
            <a:ext cx="7955700" cy="64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 Learning in Text Representation</a:t>
            </a:r>
            <a:endParaRPr/>
          </a:p>
        </p:txBody>
      </p:sp>
      <p:sp>
        <p:nvSpPr>
          <p:cNvPr id="135" name="Google Shape;135;p26"/>
          <p:cNvSpPr txBox="1"/>
          <p:nvPr>
            <p:ph idx="1" type="body"/>
          </p:nvPr>
        </p:nvSpPr>
        <p:spPr>
          <a:xfrm>
            <a:off x="460350" y="1098625"/>
            <a:ext cx="8271900" cy="37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</a:pPr>
            <a:r>
              <a:rPr b="1"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Deep learning models</a:t>
            </a:r>
            <a:r>
              <a:rPr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 </a:t>
            </a:r>
            <a:r>
              <a:rPr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widely used to learn text representations</a:t>
            </a:r>
            <a:endParaRPr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tillium Web"/>
              <a:buChar char="●"/>
            </a:pPr>
            <a:r>
              <a:rPr b="1"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Examples</a:t>
            </a:r>
            <a:endParaRPr b="1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412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○"/>
            </a:pPr>
            <a:r>
              <a:rPr lang="en">
                <a:latin typeface="Titillium Web"/>
                <a:ea typeface="Titillium Web"/>
                <a:cs typeface="Titillium Web"/>
                <a:sym typeface="Titillium Web"/>
              </a:rPr>
              <a:t>RNNs  such as LSTM (Hochreiter and Schmidhuber 1997)</a:t>
            </a:r>
            <a:endParaRPr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412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○"/>
            </a:pPr>
            <a:r>
              <a:rPr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CNNs (Kim 2014) </a:t>
            </a:r>
            <a:endParaRPr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36" name="Google Shape;136;p26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0124D"/>
            </a:gs>
            <a:gs pos="100000">
              <a:srgbClr val="1E123D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594150" y="213000"/>
            <a:ext cx="8271900" cy="64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CNN &amp; RNN</a:t>
            </a:r>
            <a:r>
              <a:rPr lang="en"/>
              <a:t> in Text Representation</a:t>
            </a:r>
            <a:endParaRPr/>
          </a:p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460350" y="1098625"/>
            <a:ext cx="8271900" cy="37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tillium Web"/>
              <a:buChar char="●"/>
            </a:pPr>
            <a:r>
              <a:rPr b="1"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Pros</a:t>
            </a:r>
            <a:endParaRPr b="1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Can capture </a:t>
            </a:r>
            <a:r>
              <a:rPr b="1"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semantic</a:t>
            </a:r>
            <a:r>
              <a:rPr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 and </a:t>
            </a:r>
            <a:r>
              <a:rPr b="1"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syntactic</a:t>
            </a:r>
            <a:r>
              <a:rPr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 information in local consecutive word sequences well</a:t>
            </a:r>
            <a:endParaRPr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tillium Web"/>
              <a:buChar char="●"/>
            </a:pPr>
            <a:r>
              <a:rPr b="1"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Cons</a:t>
            </a:r>
            <a:endParaRPr b="1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May ignore global </a:t>
            </a:r>
            <a:r>
              <a:rPr b="1"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word co-occurrence</a:t>
            </a:r>
            <a:r>
              <a:rPr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 in a corpus which carries </a:t>
            </a:r>
            <a:r>
              <a:rPr b="1"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non-consecutive</a:t>
            </a:r>
            <a:r>
              <a:rPr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 and </a:t>
            </a:r>
            <a:r>
              <a:rPr b="1"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long-distance semantics</a:t>
            </a:r>
            <a:r>
              <a:rPr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 (Peng et al. 2018)</a:t>
            </a:r>
            <a:endParaRPr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43" name="Google Shape;143;p27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0124D"/>
            </a:gs>
            <a:gs pos="100000">
              <a:srgbClr val="1E123D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/>
          <p:nvPr>
            <p:ph type="title"/>
          </p:nvPr>
        </p:nvSpPr>
        <p:spPr>
          <a:xfrm>
            <a:off x="594150" y="213000"/>
            <a:ext cx="8271900" cy="64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NN</a:t>
            </a:r>
            <a:r>
              <a:rPr lang="en"/>
              <a:t> in Text Representation</a:t>
            </a:r>
            <a:endParaRPr/>
          </a:p>
        </p:txBody>
      </p:sp>
      <p:sp>
        <p:nvSpPr>
          <p:cNvPr id="149" name="Google Shape;149;p28"/>
          <p:cNvSpPr txBox="1"/>
          <p:nvPr>
            <p:ph idx="1" type="body"/>
          </p:nvPr>
        </p:nvSpPr>
        <p:spPr>
          <a:xfrm>
            <a:off x="460350" y="1098625"/>
            <a:ext cx="8271900" cy="37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tillium Web"/>
              <a:buChar char="●"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Effective at</a:t>
            </a:r>
            <a:endParaRPr b="1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Tasks thought to have </a:t>
            </a:r>
            <a:r>
              <a:rPr b="1"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rich relational structure</a:t>
            </a:r>
            <a:endParaRPr b="1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tillium Web"/>
              <a:buChar char="●"/>
            </a:pPr>
            <a:r>
              <a:rPr b="1"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Can preserve</a:t>
            </a:r>
            <a:r>
              <a:rPr b="1"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 </a:t>
            </a:r>
            <a:endParaRPr b="1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b="1"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G</a:t>
            </a:r>
            <a:r>
              <a:rPr b="1"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lobal structure information</a:t>
            </a:r>
            <a:r>
              <a:rPr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 of a graph in graph embeddings</a:t>
            </a:r>
            <a:endParaRPr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50" name="Google Shape;150;p28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>
            <p:ph idx="4294967295" type="ctrTitle"/>
          </p:nvPr>
        </p:nvSpPr>
        <p:spPr>
          <a:xfrm>
            <a:off x="291075" y="2411475"/>
            <a:ext cx="5796900" cy="775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Theory</a:t>
            </a:r>
            <a:r>
              <a:rPr lang="en"/>
              <a:t> </a:t>
            </a:r>
            <a:endParaRPr/>
          </a:p>
        </p:txBody>
      </p:sp>
      <p:sp>
        <p:nvSpPr>
          <p:cNvPr id="156" name="Google Shape;156;p29"/>
          <p:cNvSpPr txBox="1"/>
          <p:nvPr>
            <p:ph idx="4294967295" type="subTitle"/>
          </p:nvPr>
        </p:nvSpPr>
        <p:spPr>
          <a:xfrm>
            <a:off x="291075" y="3186975"/>
            <a:ext cx="5796900" cy="46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Graph Convolutional Networks</a:t>
            </a:r>
            <a:r>
              <a:rPr lang="en"/>
              <a:t> &amp; Graph Attentional Layers</a:t>
            </a:r>
            <a:endParaRPr/>
          </a:p>
        </p:txBody>
      </p:sp>
      <p:sp>
        <p:nvSpPr>
          <p:cNvPr id="157" name="Google Shape;157;p29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0124D"/>
            </a:gs>
            <a:gs pos="100000">
              <a:srgbClr val="1E123D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0"/>
          <p:cNvSpPr txBox="1"/>
          <p:nvPr>
            <p:ph idx="1" type="body"/>
          </p:nvPr>
        </p:nvSpPr>
        <p:spPr>
          <a:xfrm>
            <a:off x="460350" y="1098625"/>
            <a:ext cx="8271900" cy="37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tillium Web"/>
              <a:buChar char="●"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Graph Convolutional Networks for Text Classification (Liang Yao, Chengsheng Mao, Yuan Luo, 2019) 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tillium Web"/>
              <a:buChar char="○"/>
            </a:pPr>
            <a:r>
              <a:rPr lang="en">
                <a:latin typeface="Titillium Web"/>
                <a:ea typeface="Titillium Web"/>
                <a:cs typeface="Titillium Web"/>
                <a:sym typeface="Titillium Web"/>
              </a:rPr>
              <a:t>A GCN that works directly on a </a:t>
            </a: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graphical representation</a:t>
            </a:r>
            <a:r>
              <a:rPr lang="en">
                <a:latin typeface="Titillium Web"/>
                <a:ea typeface="Titillium Web"/>
                <a:cs typeface="Titillium Web"/>
                <a:sym typeface="Titillium Web"/>
              </a:rPr>
              <a:t> of a document</a:t>
            </a:r>
            <a:endParaRPr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tillium Web"/>
              <a:buChar char="○"/>
            </a:pPr>
            <a:r>
              <a:rPr lang="en">
                <a:latin typeface="Titillium Web"/>
                <a:ea typeface="Titillium Web"/>
                <a:cs typeface="Titillium Web"/>
                <a:sym typeface="Titillium Web"/>
              </a:rPr>
              <a:t>Induces embedding vectors of nodes based on properties of their </a:t>
            </a: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neighborhoods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63" name="Google Shape;163;p30"/>
          <p:cNvSpPr txBox="1"/>
          <p:nvPr>
            <p:ph type="title"/>
          </p:nvPr>
        </p:nvSpPr>
        <p:spPr>
          <a:xfrm>
            <a:off x="0" y="213000"/>
            <a:ext cx="9144000" cy="64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Convolutional Layer - Literature Review</a:t>
            </a:r>
            <a:endParaRPr/>
          </a:p>
        </p:txBody>
      </p:sp>
      <p:sp>
        <p:nvSpPr>
          <p:cNvPr id="164" name="Google Shape;164;p30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0124D"/>
            </a:gs>
            <a:gs pos="100000">
              <a:srgbClr val="1E123D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/>
          <p:nvPr>
            <p:ph idx="1" type="body"/>
          </p:nvPr>
        </p:nvSpPr>
        <p:spPr>
          <a:xfrm>
            <a:off x="460350" y="1098625"/>
            <a:ext cx="8271900" cy="37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tillium Web"/>
              <a:buChar char="●"/>
            </a:pPr>
            <a:r>
              <a:rPr lang="en">
                <a:latin typeface="Titillium Web"/>
                <a:ea typeface="Titillium Web"/>
                <a:cs typeface="Titillium Web"/>
                <a:sym typeface="Titillium Web"/>
              </a:rPr>
              <a:t>A convolution = mixing operation</a:t>
            </a:r>
            <a:endParaRPr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tillium Web"/>
              <a:buChar char="●"/>
            </a:pPr>
            <a:r>
              <a:rPr lang="en">
                <a:latin typeface="Titillium Web"/>
                <a:ea typeface="Titillium Web"/>
                <a:cs typeface="Titillium Web"/>
                <a:sym typeface="Titillium Web"/>
              </a:rPr>
              <a:t>Fixed-size kernels</a:t>
            </a:r>
            <a:endParaRPr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tillium Web"/>
              <a:buChar char="●"/>
            </a:pPr>
            <a:r>
              <a:rPr lang="en">
                <a:latin typeface="Titillium Web"/>
                <a:ea typeface="Titillium Web"/>
                <a:cs typeface="Titillium Web"/>
                <a:sym typeface="Titillium Web"/>
              </a:rPr>
              <a:t>Conventional CNN is popular in </a:t>
            </a:r>
            <a:endParaRPr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tillium Web"/>
              <a:buChar char="○"/>
            </a:pPr>
            <a:r>
              <a:rPr lang="en">
                <a:latin typeface="Titillium Web"/>
                <a:ea typeface="Titillium Web"/>
                <a:cs typeface="Titillium Web"/>
                <a:sym typeface="Titillium Web"/>
              </a:rPr>
              <a:t>1-dimensional time-series data (e.g., sound)</a:t>
            </a:r>
            <a:endParaRPr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tillium Web"/>
              <a:buChar char="○"/>
            </a:pPr>
            <a:r>
              <a:rPr lang="en">
                <a:latin typeface="Titillium Web"/>
                <a:ea typeface="Titillium Web"/>
                <a:cs typeface="Titillium Web"/>
                <a:sym typeface="Titillium Web"/>
              </a:rPr>
              <a:t>2-dimensional data with spatial locality (e.g., image)</a:t>
            </a:r>
            <a:endParaRPr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tillium Web"/>
              <a:buChar char="○"/>
            </a:pPr>
            <a:r>
              <a:rPr lang="en">
                <a:latin typeface="Titillium Web"/>
                <a:ea typeface="Titillium Web"/>
                <a:cs typeface="Titillium Web"/>
                <a:sym typeface="Titillium Web"/>
              </a:rPr>
              <a:t>3</a:t>
            </a:r>
            <a:r>
              <a:rPr lang="en">
                <a:latin typeface="Titillium Web"/>
                <a:ea typeface="Titillium Web"/>
                <a:cs typeface="Titillium Web"/>
                <a:sym typeface="Titillium Web"/>
              </a:rPr>
              <a:t>-dimensional data with spatial locality (e.g., </a:t>
            </a:r>
            <a:r>
              <a:rPr lang="en">
                <a:latin typeface="Titillium Web"/>
                <a:ea typeface="Titillium Web"/>
                <a:cs typeface="Titillium Web"/>
                <a:sym typeface="Titillium Web"/>
              </a:rPr>
              <a:t>Magnetic Resonance Imaging data)</a:t>
            </a:r>
            <a:endParaRPr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70" name="Google Shape;170;p31"/>
          <p:cNvSpPr txBox="1"/>
          <p:nvPr>
            <p:ph type="title"/>
          </p:nvPr>
        </p:nvSpPr>
        <p:spPr>
          <a:xfrm>
            <a:off x="594150" y="213000"/>
            <a:ext cx="8271900" cy="64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Conventional CNN</a:t>
            </a:r>
            <a:endParaRPr/>
          </a:p>
        </p:txBody>
      </p:sp>
      <p:sp>
        <p:nvSpPr>
          <p:cNvPr id="171" name="Google Shape;171;p31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0124D"/>
            </a:gs>
            <a:gs pos="100000">
              <a:srgbClr val="1E123D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2"/>
          <p:cNvSpPr txBox="1"/>
          <p:nvPr>
            <p:ph idx="1" type="body"/>
          </p:nvPr>
        </p:nvSpPr>
        <p:spPr>
          <a:xfrm>
            <a:off x="460350" y="1098625"/>
            <a:ext cx="8271900" cy="37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tillium Web"/>
              <a:buChar char="●"/>
            </a:pPr>
            <a:r>
              <a:rPr lang="en">
                <a:latin typeface="Titillium Web"/>
                <a:ea typeface="Titillium Web"/>
                <a:cs typeface="Titillium Web"/>
                <a:sym typeface="Titillium Web"/>
              </a:rPr>
              <a:t>Number of neighbours changes, so </a:t>
            </a: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n</a:t>
            </a: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o fixed-size kernels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tillium Web"/>
              <a:buChar char="●"/>
            </a:pPr>
            <a:r>
              <a:rPr lang="en">
                <a:latin typeface="Titillium Web"/>
                <a:ea typeface="Titillium Web"/>
                <a:cs typeface="Titillium Web"/>
                <a:sym typeface="Titillium Web"/>
              </a:rPr>
              <a:t>No global location, but </a:t>
            </a: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relative</a:t>
            </a:r>
            <a:r>
              <a:rPr lang="en">
                <a:latin typeface="Titillium Web"/>
                <a:ea typeface="Titillium Web"/>
                <a:cs typeface="Titillium Web"/>
                <a:sym typeface="Titillium Web"/>
              </a:rPr>
              <a:t> locations</a:t>
            </a:r>
            <a:endParaRPr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tillium Web"/>
              <a:buChar char="●"/>
            </a:pPr>
            <a:r>
              <a:rPr lang="en">
                <a:latin typeface="Titillium Web"/>
                <a:ea typeface="Titillium Web"/>
                <a:cs typeface="Titillium Web"/>
                <a:sym typeface="Titillium Web"/>
              </a:rPr>
              <a:t>Cannot define with </a:t>
            </a: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matrices</a:t>
            </a:r>
            <a:r>
              <a:rPr lang="en">
                <a:latin typeface="Titillium Web"/>
                <a:ea typeface="Titillium Web"/>
                <a:cs typeface="Titillium Web"/>
                <a:sym typeface="Titillium Web"/>
              </a:rPr>
              <a:t> directly</a:t>
            </a:r>
            <a:endParaRPr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77" name="Google Shape;177;p32"/>
          <p:cNvSpPr txBox="1"/>
          <p:nvPr>
            <p:ph type="title"/>
          </p:nvPr>
        </p:nvSpPr>
        <p:spPr>
          <a:xfrm>
            <a:off x="594150" y="213000"/>
            <a:ext cx="8271900" cy="64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Convolutional Layer</a:t>
            </a:r>
            <a:endParaRPr/>
          </a:p>
        </p:txBody>
      </p:sp>
      <p:sp>
        <p:nvSpPr>
          <p:cNvPr id="178" name="Google Shape;178;p32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0124D"/>
            </a:gs>
            <a:gs pos="100000">
              <a:srgbClr val="1E123D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3"/>
          <p:cNvSpPr txBox="1"/>
          <p:nvPr>
            <p:ph type="title"/>
          </p:nvPr>
        </p:nvSpPr>
        <p:spPr>
          <a:xfrm>
            <a:off x="594150" y="213000"/>
            <a:ext cx="8271900" cy="64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Locality Problem of </a:t>
            </a:r>
            <a:r>
              <a:rPr lang="en"/>
              <a:t>Graph-CNN</a:t>
            </a:r>
            <a:endParaRPr/>
          </a:p>
        </p:txBody>
      </p:sp>
      <p:pic>
        <p:nvPicPr>
          <p:cNvPr id="184" name="Google Shape;18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7063" y="1110500"/>
            <a:ext cx="6989875" cy="363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3"/>
          <p:cNvSpPr txBox="1"/>
          <p:nvPr>
            <p:ph idx="1" type="body"/>
          </p:nvPr>
        </p:nvSpPr>
        <p:spPr>
          <a:xfrm>
            <a:off x="1235100" y="4846450"/>
            <a:ext cx="6990000" cy="20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400">
                <a:latin typeface="Titillium Web"/>
                <a:ea typeface="Titillium Web"/>
                <a:cs typeface="Titillium Web"/>
                <a:sym typeface="Titillium Web"/>
              </a:rPr>
              <a:t>Ref: </a:t>
            </a:r>
            <a:r>
              <a:rPr lang="en" sz="1400" u="sng">
                <a:solidFill>
                  <a:schemeClr val="hlink"/>
                </a:solidFill>
                <a:latin typeface="Titillium Web"/>
                <a:ea typeface="Titillium Web"/>
                <a:cs typeface="Titillium Web"/>
                <a:sym typeface="Titillium Web"/>
                <a:hlinkClick r:id="rId4"/>
              </a:rPr>
              <a:t>https://www.experoinc.com/post/node-classification-by-graph-convolutional-network</a:t>
            </a:r>
            <a:r>
              <a:rPr lang="en" sz="1400">
                <a:latin typeface="Titillium Web"/>
                <a:ea typeface="Titillium Web"/>
                <a:cs typeface="Titillium Web"/>
                <a:sym typeface="Titillium Web"/>
              </a:rPr>
              <a:t> </a:t>
            </a:r>
            <a:endParaRPr sz="14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86" name="Google Shape;186;p33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0124D"/>
            </a:gs>
            <a:gs pos="100000">
              <a:srgbClr val="1E123D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4"/>
          <p:cNvSpPr txBox="1"/>
          <p:nvPr>
            <p:ph type="title"/>
          </p:nvPr>
        </p:nvSpPr>
        <p:spPr>
          <a:xfrm>
            <a:off x="594150" y="213000"/>
            <a:ext cx="8271900" cy="64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Convolutional Layer - Formula</a:t>
            </a:r>
            <a:endParaRPr/>
          </a:p>
        </p:txBody>
      </p:sp>
      <p:pic>
        <p:nvPicPr>
          <p:cNvPr id="192" name="Google Shape;19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6214" y="1148800"/>
            <a:ext cx="7371573" cy="360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4"/>
          <p:cNvSpPr txBox="1"/>
          <p:nvPr>
            <p:ph idx="1" type="body"/>
          </p:nvPr>
        </p:nvSpPr>
        <p:spPr>
          <a:xfrm>
            <a:off x="1235100" y="4846450"/>
            <a:ext cx="6990000" cy="20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400">
                <a:latin typeface="Titillium Web"/>
                <a:ea typeface="Titillium Web"/>
                <a:cs typeface="Titillium Web"/>
                <a:sym typeface="Titillium Web"/>
              </a:rPr>
              <a:t>Ref: </a:t>
            </a:r>
            <a:r>
              <a:rPr lang="en" sz="1400" u="sng">
                <a:solidFill>
                  <a:schemeClr val="hlink"/>
                </a:solidFill>
                <a:latin typeface="Titillium Web"/>
                <a:ea typeface="Titillium Web"/>
                <a:cs typeface="Titillium Web"/>
                <a:sym typeface="Titillium Web"/>
                <a:hlinkClick r:id="rId4"/>
              </a:rPr>
              <a:t>https://www.experoinc.com/post/node-classification-by-graph-convolutional-network</a:t>
            </a:r>
            <a:r>
              <a:rPr lang="en" sz="1400">
                <a:latin typeface="Titillium Web"/>
                <a:ea typeface="Titillium Web"/>
                <a:cs typeface="Titillium Web"/>
                <a:sym typeface="Titillium Web"/>
              </a:rPr>
              <a:t> </a:t>
            </a:r>
            <a:endParaRPr sz="14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94" name="Google Shape;194;p34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0124D"/>
            </a:gs>
            <a:gs pos="100000">
              <a:srgbClr val="1E123D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5"/>
          <p:cNvSpPr txBox="1"/>
          <p:nvPr>
            <p:ph type="title"/>
          </p:nvPr>
        </p:nvSpPr>
        <p:spPr>
          <a:xfrm>
            <a:off x="594150" y="213000"/>
            <a:ext cx="8271900" cy="64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Convolutional Layer - Visually</a:t>
            </a:r>
            <a:endParaRPr/>
          </a:p>
        </p:txBody>
      </p:sp>
      <p:sp>
        <p:nvSpPr>
          <p:cNvPr id="200" name="Google Shape;200;p35"/>
          <p:cNvSpPr txBox="1"/>
          <p:nvPr>
            <p:ph idx="1" type="body"/>
          </p:nvPr>
        </p:nvSpPr>
        <p:spPr>
          <a:xfrm>
            <a:off x="1235100" y="4846450"/>
            <a:ext cx="6990000" cy="20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400">
                <a:latin typeface="Titillium Web"/>
                <a:ea typeface="Titillium Web"/>
                <a:cs typeface="Titillium Web"/>
                <a:sym typeface="Titillium Web"/>
              </a:rPr>
              <a:t>Ref: </a:t>
            </a:r>
            <a:r>
              <a:rPr lang="en" sz="1400" u="sng">
                <a:solidFill>
                  <a:schemeClr val="hlink"/>
                </a:solidFill>
                <a:latin typeface="Titillium Web"/>
                <a:ea typeface="Titillium Web"/>
                <a:cs typeface="Titillium Web"/>
                <a:sym typeface="Titillium Web"/>
                <a:hlinkClick r:id="rId3"/>
              </a:rPr>
              <a:t>https://www.experoinc.com/post/node-classification-by-graph-convolutional-network</a:t>
            </a:r>
            <a:r>
              <a:rPr lang="en" sz="1400">
                <a:latin typeface="Titillium Web"/>
                <a:ea typeface="Titillium Web"/>
                <a:cs typeface="Titillium Web"/>
                <a:sym typeface="Titillium Web"/>
              </a:rPr>
              <a:t> </a:t>
            </a:r>
            <a:endParaRPr sz="14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201" name="Google Shape;201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850" y="1050350"/>
            <a:ext cx="7238288" cy="360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5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0124D"/>
            </a:gs>
            <a:gs pos="100000">
              <a:srgbClr val="1E123D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6"/>
          <p:cNvSpPr txBox="1"/>
          <p:nvPr>
            <p:ph idx="1" type="body"/>
          </p:nvPr>
        </p:nvSpPr>
        <p:spPr>
          <a:xfrm>
            <a:off x="460350" y="1098625"/>
            <a:ext cx="8271900" cy="37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tillium Web"/>
              <a:buChar char="●"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Graph Attention Networks (Velickovic, 2017)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tillium Web"/>
              <a:buChar char="○"/>
            </a:pPr>
            <a:r>
              <a:rPr lang="en">
                <a:latin typeface="Titillium Web"/>
                <a:ea typeface="Titillium Web"/>
                <a:cs typeface="Titillium Web"/>
                <a:sym typeface="Titillium Web"/>
              </a:rPr>
              <a:t>A novel </a:t>
            </a: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highly effective</a:t>
            </a:r>
            <a:r>
              <a:rPr lang="en">
                <a:latin typeface="Titillium Web"/>
                <a:ea typeface="Titillium Web"/>
                <a:cs typeface="Titillium Web"/>
                <a:sym typeface="Titillium Web"/>
              </a:rPr>
              <a:t> neural network architecture </a:t>
            </a:r>
            <a:endParaRPr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tillium Web"/>
              <a:buChar char="○"/>
            </a:pPr>
            <a:r>
              <a:rPr lang="en">
                <a:latin typeface="Titillium Web"/>
                <a:ea typeface="Titillium Web"/>
                <a:cs typeface="Titillium Web"/>
                <a:sym typeface="Titillium Web"/>
              </a:rPr>
              <a:t>Enables specifying </a:t>
            </a: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different</a:t>
            </a:r>
            <a:r>
              <a:rPr lang="en">
                <a:latin typeface="Titillium Web"/>
                <a:ea typeface="Titillium Web"/>
                <a:cs typeface="Titillium Web"/>
                <a:sym typeface="Titillium Web"/>
              </a:rPr>
              <a:t> </a:t>
            </a: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weights</a:t>
            </a:r>
            <a:r>
              <a:rPr lang="en">
                <a:latin typeface="Titillium Web"/>
                <a:ea typeface="Titillium Web"/>
                <a:cs typeface="Titillium Web"/>
                <a:sym typeface="Titillium Web"/>
              </a:rPr>
              <a:t> to </a:t>
            </a: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different nodes</a:t>
            </a:r>
            <a:r>
              <a:rPr lang="en">
                <a:latin typeface="Titillium Web"/>
                <a:ea typeface="Titillium Web"/>
                <a:cs typeface="Titillium Web"/>
                <a:sym typeface="Titillium Web"/>
              </a:rPr>
              <a:t> in a neighbourhood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08" name="Google Shape;208;p36"/>
          <p:cNvSpPr txBox="1"/>
          <p:nvPr>
            <p:ph type="title"/>
          </p:nvPr>
        </p:nvSpPr>
        <p:spPr>
          <a:xfrm>
            <a:off x="289350" y="213000"/>
            <a:ext cx="9014100" cy="64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Attentional Layer - Literature Review</a:t>
            </a:r>
            <a:endParaRPr/>
          </a:p>
        </p:txBody>
      </p:sp>
      <p:sp>
        <p:nvSpPr>
          <p:cNvPr id="209" name="Google Shape;209;p36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0124D"/>
            </a:gs>
            <a:gs pos="100000">
              <a:srgbClr val="1E123D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7"/>
          <p:cNvSpPr txBox="1"/>
          <p:nvPr>
            <p:ph type="title"/>
          </p:nvPr>
        </p:nvSpPr>
        <p:spPr>
          <a:xfrm>
            <a:off x="594150" y="213000"/>
            <a:ext cx="8271900" cy="64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Attentional Layer - Basic Idea</a:t>
            </a:r>
            <a:endParaRPr/>
          </a:p>
        </p:txBody>
      </p:sp>
      <p:sp>
        <p:nvSpPr>
          <p:cNvPr id="215" name="Google Shape;215;p37"/>
          <p:cNvSpPr txBox="1"/>
          <p:nvPr>
            <p:ph idx="4294967295" type="subTitle"/>
          </p:nvPr>
        </p:nvSpPr>
        <p:spPr>
          <a:xfrm>
            <a:off x="529300" y="1070125"/>
            <a:ext cx="7882200" cy="35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tillium Web"/>
              <a:buChar char="●"/>
            </a:pPr>
            <a:r>
              <a:rPr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C</a:t>
            </a:r>
            <a:r>
              <a:rPr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an improve the accuracy with an</a:t>
            </a:r>
            <a:r>
              <a:rPr b="1"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 attention mechanism</a:t>
            </a:r>
            <a:endParaRPr b="1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"/>
              <a:buChar char="●"/>
            </a:pPr>
            <a:r>
              <a:rPr lang="en">
                <a:latin typeface="Titillium Web"/>
                <a:ea typeface="Titillium Web"/>
                <a:cs typeface="Titillium Web"/>
                <a:sym typeface="Titillium Web"/>
              </a:rPr>
              <a:t>With attention heads &amp; vectors, </a:t>
            </a: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update</a:t>
            </a:r>
            <a:r>
              <a:rPr lang="en">
                <a:latin typeface="Titillium Web"/>
                <a:ea typeface="Titillium Web"/>
                <a:cs typeface="Titillium Web"/>
                <a:sym typeface="Titillium Web"/>
              </a:rPr>
              <a:t> node-features</a:t>
            </a:r>
            <a:endParaRPr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16" name="Google Shape;216;p37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0124D"/>
            </a:gs>
            <a:gs pos="100000">
              <a:srgbClr val="1E123D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8"/>
          <p:cNvSpPr txBox="1"/>
          <p:nvPr>
            <p:ph type="title"/>
          </p:nvPr>
        </p:nvSpPr>
        <p:spPr>
          <a:xfrm>
            <a:off x="594150" y="213000"/>
            <a:ext cx="8271900" cy="64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Attentional Layer</a:t>
            </a:r>
            <a:r>
              <a:rPr lang="en"/>
              <a:t> - Visually</a:t>
            </a:r>
            <a:endParaRPr/>
          </a:p>
        </p:txBody>
      </p:sp>
      <p:pic>
        <p:nvPicPr>
          <p:cNvPr id="222" name="Google Shape;22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6025" y="1113775"/>
            <a:ext cx="7568149" cy="3693974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8"/>
          <p:cNvSpPr txBox="1"/>
          <p:nvPr>
            <p:ph idx="1" type="body"/>
          </p:nvPr>
        </p:nvSpPr>
        <p:spPr>
          <a:xfrm>
            <a:off x="1235100" y="4846450"/>
            <a:ext cx="7036800" cy="20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400">
                <a:latin typeface="Titillium Web"/>
                <a:ea typeface="Titillium Web"/>
                <a:cs typeface="Titillium Web"/>
                <a:sym typeface="Titillium Web"/>
              </a:rPr>
              <a:t>Ref: </a:t>
            </a:r>
            <a:r>
              <a:rPr lang="en" sz="1400" u="sng">
                <a:solidFill>
                  <a:schemeClr val="hlink"/>
                </a:solidFill>
                <a:latin typeface="Titillium Web"/>
                <a:ea typeface="Titillium Web"/>
                <a:cs typeface="Titillium Web"/>
                <a:sym typeface="Titillium Web"/>
                <a:hlinkClick r:id="rId4"/>
              </a:rPr>
              <a:t>https://ai.science/e/gat-graph-attention-networks--2019-04-15</a:t>
            </a:r>
            <a:r>
              <a:rPr lang="en" sz="1400">
                <a:latin typeface="Titillium Web"/>
                <a:ea typeface="Titillium Web"/>
                <a:cs typeface="Titillium Web"/>
                <a:sym typeface="Titillium Web"/>
              </a:rPr>
              <a:t> </a:t>
            </a:r>
            <a:endParaRPr sz="14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24" name="Google Shape;224;p38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9"/>
          <p:cNvSpPr txBox="1"/>
          <p:nvPr>
            <p:ph idx="4294967295" type="ctrTitle"/>
          </p:nvPr>
        </p:nvSpPr>
        <p:spPr>
          <a:xfrm>
            <a:off x="291075" y="2411475"/>
            <a:ext cx="5796900" cy="775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Methods </a:t>
            </a:r>
            <a:endParaRPr/>
          </a:p>
        </p:txBody>
      </p:sp>
      <p:sp>
        <p:nvSpPr>
          <p:cNvPr id="230" name="Google Shape;230;p39"/>
          <p:cNvSpPr txBox="1"/>
          <p:nvPr>
            <p:ph idx="4294967295" type="subTitle"/>
          </p:nvPr>
        </p:nvSpPr>
        <p:spPr>
          <a:xfrm>
            <a:off x="291075" y="3186975"/>
            <a:ext cx="5796900" cy="46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Our-GCN &amp; Our-GAT</a:t>
            </a:r>
            <a:endParaRPr/>
          </a:p>
        </p:txBody>
      </p:sp>
      <p:sp>
        <p:nvSpPr>
          <p:cNvPr id="231" name="Google Shape;231;p39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0124D"/>
            </a:gs>
            <a:gs pos="100000">
              <a:srgbClr val="1E123D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0"/>
          <p:cNvSpPr txBox="1"/>
          <p:nvPr>
            <p:ph idx="1" type="subTitle"/>
          </p:nvPr>
        </p:nvSpPr>
        <p:spPr>
          <a:xfrm>
            <a:off x="529300" y="1070125"/>
            <a:ext cx="7882200" cy="39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tillium Web"/>
              <a:buChar char="●"/>
            </a:pPr>
            <a:r>
              <a:rPr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We’ve implemented a GCN model </a:t>
            </a:r>
            <a:endParaRPr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tillium Web"/>
              <a:buChar char="○"/>
            </a:pPr>
            <a:r>
              <a:rPr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to learn </a:t>
            </a:r>
            <a:r>
              <a:rPr b="1"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word and document embeddings</a:t>
            </a:r>
            <a:r>
              <a:rPr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 simultaneously</a:t>
            </a:r>
            <a:endParaRPr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tillium Web"/>
              <a:buChar char="●"/>
            </a:pPr>
            <a:r>
              <a:rPr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A single large graph from an entire corpus, which contains </a:t>
            </a:r>
            <a:r>
              <a:rPr b="1"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words and documents</a:t>
            </a:r>
            <a:r>
              <a:rPr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 as </a:t>
            </a:r>
            <a:r>
              <a:rPr b="1"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nodes</a:t>
            </a:r>
            <a:endParaRPr b="1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tillium Web"/>
              <a:buChar char="●"/>
            </a:pPr>
            <a:r>
              <a:rPr lang="en">
                <a:latin typeface="Titillium Web"/>
                <a:ea typeface="Titillium Web"/>
                <a:cs typeface="Titillium Web"/>
                <a:sym typeface="Titillium Web"/>
              </a:rPr>
              <a:t>A 2-layer GCN can allow message passing among nodes that are at </a:t>
            </a: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maximum two steps away</a:t>
            </a:r>
            <a:endParaRPr b="1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37" name="Google Shape;237;p40"/>
          <p:cNvSpPr txBox="1"/>
          <p:nvPr>
            <p:ph idx="4294967295" type="title"/>
          </p:nvPr>
        </p:nvSpPr>
        <p:spPr>
          <a:xfrm>
            <a:off x="594150" y="213000"/>
            <a:ext cx="8271900" cy="64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GCN Model</a:t>
            </a:r>
            <a:endParaRPr/>
          </a:p>
        </p:txBody>
      </p:sp>
      <p:sp>
        <p:nvSpPr>
          <p:cNvPr id="238" name="Google Shape;238;p40"/>
          <p:cNvSpPr txBox="1"/>
          <p:nvPr>
            <p:ph idx="4294967295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0124D"/>
            </a:gs>
            <a:gs pos="100000">
              <a:srgbClr val="1E123D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1"/>
          <p:cNvSpPr txBox="1"/>
          <p:nvPr>
            <p:ph idx="1" type="subTitle"/>
          </p:nvPr>
        </p:nvSpPr>
        <p:spPr>
          <a:xfrm>
            <a:off x="529300" y="1070125"/>
            <a:ext cx="8271900" cy="41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tillium Web"/>
              <a:buChar char="●"/>
            </a:pPr>
            <a:r>
              <a:rPr b="1"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No direct document-document edges</a:t>
            </a:r>
            <a:r>
              <a:rPr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 in the graph</a:t>
            </a:r>
            <a:endParaRPr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tillium Web"/>
              <a:buChar char="●"/>
            </a:pPr>
            <a:r>
              <a:rPr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The two-layer GCN allows the </a:t>
            </a:r>
            <a:r>
              <a:rPr b="1"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information exchange</a:t>
            </a:r>
            <a:r>
              <a:rPr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 between pairs of documents</a:t>
            </a:r>
            <a:endParaRPr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tillium Web"/>
              <a:buChar char="●"/>
            </a:pPr>
            <a:r>
              <a:rPr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The second layer node (word/doc) embeddings have the same size as the labels set and are fed into a </a:t>
            </a:r>
            <a:r>
              <a:rPr b="1"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softmax classifier</a:t>
            </a:r>
            <a:endParaRPr b="1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44" name="Google Shape;244;p41"/>
          <p:cNvSpPr txBox="1"/>
          <p:nvPr>
            <p:ph idx="4294967295" type="title"/>
          </p:nvPr>
        </p:nvSpPr>
        <p:spPr>
          <a:xfrm>
            <a:off x="594150" y="213000"/>
            <a:ext cx="8271900" cy="64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GCN Model - Details</a:t>
            </a:r>
            <a:endParaRPr/>
          </a:p>
        </p:txBody>
      </p:sp>
      <p:sp>
        <p:nvSpPr>
          <p:cNvPr id="245" name="Google Shape;245;p41"/>
          <p:cNvSpPr txBox="1"/>
          <p:nvPr>
            <p:ph idx="4294967295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0124D"/>
            </a:gs>
            <a:gs pos="100000">
              <a:srgbClr val="1E123D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2"/>
          <p:cNvSpPr txBox="1"/>
          <p:nvPr>
            <p:ph idx="1" type="subTitle"/>
          </p:nvPr>
        </p:nvSpPr>
        <p:spPr>
          <a:xfrm>
            <a:off x="529300" y="1070125"/>
            <a:ext cx="7882200" cy="39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tillium Web"/>
              <a:buChar char="●"/>
            </a:pPr>
            <a:r>
              <a:rPr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E</a:t>
            </a:r>
            <a:r>
              <a:rPr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dge between two word nodes is built using </a:t>
            </a:r>
            <a:endParaRPr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tillium Web"/>
              <a:buChar char="○"/>
            </a:pPr>
            <a:r>
              <a:rPr b="1"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Word co-occurrence information (PMI)</a:t>
            </a:r>
            <a:endParaRPr b="1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tillium Web"/>
              <a:buChar char="●"/>
            </a:pPr>
            <a:r>
              <a:rPr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Edge between a word</a:t>
            </a:r>
            <a:r>
              <a:rPr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 node </a:t>
            </a:r>
            <a:r>
              <a:rPr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and document node is built using </a:t>
            </a:r>
            <a:endParaRPr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tillium Web"/>
              <a:buChar char="○"/>
            </a:pPr>
            <a:r>
              <a:rPr b="1"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Word frequency and word’s document frequency (TF-IDF)</a:t>
            </a:r>
            <a:endParaRPr b="1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51" name="Google Shape;251;p42"/>
          <p:cNvSpPr txBox="1"/>
          <p:nvPr>
            <p:ph idx="4294967295" type="title"/>
          </p:nvPr>
        </p:nvSpPr>
        <p:spPr>
          <a:xfrm>
            <a:off x="594150" y="213000"/>
            <a:ext cx="8271900" cy="64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GCN Model - Nodes &amp; Edges</a:t>
            </a:r>
            <a:endParaRPr/>
          </a:p>
        </p:txBody>
      </p:sp>
      <p:sp>
        <p:nvSpPr>
          <p:cNvPr id="252" name="Google Shape;252;p42"/>
          <p:cNvSpPr txBox="1"/>
          <p:nvPr>
            <p:ph idx="4294967295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0124D"/>
            </a:gs>
            <a:gs pos="100000">
              <a:srgbClr val="1E123D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3"/>
          <p:cNvSpPr txBox="1"/>
          <p:nvPr>
            <p:ph idx="1" type="subTitle"/>
          </p:nvPr>
        </p:nvSpPr>
        <p:spPr>
          <a:xfrm>
            <a:off x="529300" y="1070125"/>
            <a:ext cx="7882200" cy="39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"/>
              <a:buChar char="●"/>
            </a:pPr>
            <a:r>
              <a:rPr lang="en">
                <a:latin typeface="Titillium Web"/>
                <a:ea typeface="Titillium Web"/>
                <a:cs typeface="Titillium Web"/>
                <a:sym typeface="Titillium Web"/>
              </a:rPr>
              <a:t>Introduction of edges between two documents does not improve performance greatly </a:t>
            </a:r>
            <a:endParaRPr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Titillium Web"/>
              <a:buChar char="●"/>
            </a:pPr>
            <a:r>
              <a:rPr lang="en">
                <a:latin typeface="Titillium Web"/>
                <a:ea typeface="Titillium Web"/>
                <a:cs typeface="Titillium Web"/>
                <a:sym typeface="Titillium Web"/>
              </a:rPr>
              <a:t>Doc-doc edges were built by using hand-crafted metrics (such as cosine similarity) or from GAT output (attention coefficients)</a:t>
            </a:r>
            <a:endParaRPr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Char char="●"/>
            </a:pPr>
            <a:r>
              <a:rPr lang="en">
                <a:latin typeface="Titillium Web"/>
                <a:ea typeface="Titillium Web"/>
                <a:cs typeface="Titillium Web"/>
                <a:sym typeface="Titillium Web"/>
              </a:rPr>
              <a:t>Initializing the features with one-hot representation (featureless) works equally well </a:t>
            </a:r>
            <a:endParaRPr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58" name="Google Shape;258;p43"/>
          <p:cNvSpPr txBox="1"/>
          <p:nvPr>
            <p:ph idx="4294967295" type="title"/>
          </p:nvPr>
        </p:nvSpPr>
        <p:spPr>
          <a:xfrm>
            <a:off x="594150" y="213000"/>
            <a:ext cx="8271900" cy="64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GCN Model - Nodes &amp; Edges</a:t>
            </a:r>
            <a:endParaRPr/>
          </a:p>
        </p:txBody>
      </p:sp>
      <p:sp>
        <p:nvSpPr>
          <p:cNvPr id="259" name="Google Shape;259;p43"/>
          <p:cNvSpPr txBox="1"/>
          <p:nvPr>
            <p:ph idx="4294967295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0124D"/>
            </a:gs>
            <a:gs pos="100000">
              <a:srgbClr val="1E123D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4"/>
          <p:cNvSpPr txBox="1"/>
          <p:nvPr>
            <p:ph idx="4294967295" type="title"/>
          </p:nvPr>
        </p:nvSpPr>
        <p:spPr>
          <a:xfrm>
            <a:off x="594150" y="213000"/>
            <a:ext cx="8271900" cy="64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GCN Model - Visually</a:t>
            </a:r>
            <a:endParaRPr/>
          </a:p>
        </p:txBody>
      </p:sp>
      <p:pic>
        <p:nvPicPr>
          <p:cNvPr id="265" name="Google Shape;26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188" y="973350"/>
            <a:ext cx="6997625" cy="3936176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44"/>
          <p:cNvSpPr txBox="1"/>
          <p:nvPr>
            <p:ph idx="4294967295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0124D"/>
            </a:gs>
            <a:gs pos="100000">
              <a:srgbClr val="1E123D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5"/>
          <p:cNvSpPr txBox="1"/>
          <p:nvPr>
            <p:ph idx="1" type="subTitle"/>
          </p:nvPr>
        </p:nvSpPr>
        <p:spPr>
          <a:xfrm>
            <a:off x="529300" y="1070125"/>
            <a:ext cx="7882200" cy="39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tillium Web"/>
              <a:buChar char="●"/>
            </a:pPr>
            <a:r>
              <a:rPr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Operate on </a:t>
            </a:r>
            <a:r>
              <a:rPr b="1"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graph-structured data</a:t>
            </a:r>
            <a:endParaRPr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tillium Web"/>
              <a:buChar char="●"/>
            </a:pPr>
            <a:r>
              <a:rPr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Leveraging masked </a:t>
            </a:r>
            <a:r>
              <a:rPr b="1"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self-attentional layers</a:t>
            </a:r>
            <a:r>
              <a:rPr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 to address the shortcomings of prior methods based on graph convolutions (or their approximations)</a:t>
            </a:r>
            <a:endParaRPr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72" name="Google Shape;272;p45"/>
          <p:cNvSpPr txBox="1"/>
          <p:nvPr>
            <p:ph idx="4294967295" type="title"/>
          </p:nvPr>
        </p:nvSpPr>
        <p:spPr>
          <a:xfrm>
            <a:off x="594150" y="213000"/>
            <a:ext cx="8271900" cy="64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GAT</a:t>
            </a:r>
            <a:endParaRPr/>
          </a:p>
        </p:txBody>
      </p:sp>
      <p:sp>
        <p:nvSpPr>
          <p:cNvPr id="273" name="Google Shape;273;p45"/>
          <p:cNvSpPr txBox="1"/>
          <p:nvPr>
            <p:ph idx="4294967295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0124D"/>
            </a:gs>
            <a:gs pos="100000">
              <a:srgbClr val="1E123D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6"/>
          <p:cNvSpPr txBox="1"/>
          <p:nvPr>
            <p:ph idx="1" type="subTitle"/>
          </p:nvPr>
        </p:nvSpPr>
        <p:spPr>
          <a:xfrm>
            <a:off x="529300" y="1070125"/>
            <a:ext cx="7882200" cy="39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tillium Web"/>
              <a:buChar char="●"/>
            </a:pPr>
            <a:r>
              <a:rPr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By stacking layers in which nodes are able to </a:t>
            </a:r>
            <a:r>
              <a:rPr b="1"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attend over their neighborhoods’ features</a:t>
            </a:r>
            <a:endParaRPr b="1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tillium Web"/>
              <a:buChar char="●"/>
            </a:pPr>
            <a:r>
              <a:rPr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Enable (implicitly) specifying different weights to different nodes in a neighborhood </a:t>
            </a:r>
            <a:endParaRPr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tillium Web"/>
              <a:buChar char="○"/>
            </a:pPr>
            <a:r>
              <a:rPr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without requiring </a:t>
            </a:r>
            <a:r>
              <a:rPr b="1"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any costly matrix operation</a:t>
            </a:r>
            <a:r>
              <a:rPr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 (such as inversion) or depending on knowing the graph structure upfront</a:t>
            </a:r>
            <a:endParaRPr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79" name="Google Shape;279;p46"/>
          <p:cNvSpPr txBox="1"/>
          <p:nvPr>
            <p:ph idx="4294967295" type="title"/>
          </p:nvPr>
        </p:nvSpPr>
        <p:spPr>
          <a:xfrm>
            <a:off x="594150" y="213000"/>
            <a:ext cx="8271900" cy="64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GAT - Details</a:t>
            </a:r>
            <a:endParaRPr/>
          </a:p>
        </p:txBody>
      </p:sp>
      <p:sp>
        <p:nvSpPr>
          <p:cNvPr id="280" name="Google Shape;280;p46"/>
          <p:cNvSpPr txBox="1"/>
          <p:nvPr>
            <p:ph idx="4294967295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0124D"/>
            </a:gs>
            <a:gs pos="100000">
              <a:srgbClr val="1E123D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7"/>
          <p:cNvSpPr txBox="1"/>
          <p:nvPr>
            <p:ph idx="4294967295" type="title"/>
          </p:nvPr>
        </p:nvSpPr>
        <p:spPr>
          <a:xfrm>
            <a:off x="594150" y="213000"/>
            <a:ext cx="8271900" cy="64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GAT - Visually</a:t>
            </a:r>
            <a:endParaRPr/>
          </a:p>
        </p:txBody>
      </p:sp>
      <p:pic>
        <p:nvPicPr>
          <p:cNvPr id="286" name="Google Shape;286;p47"/>
          <p:cNvPicPr preferRelativeResize="0"/>
          <p:nvPr/>
        </p:nvPicPr>
        <p:blipFill rotWithShape="1">
          <a:blip r:embed="rId3">
            <a:alphaModFix/>
          </a:blip>
          <a:srcRect b="0" l="3504" r="11649" t="0"/>
          <a:stretch/>
        </p:blipFill>
        <p:spPr>
          <a:xfrm>
            <a:off x="854900" y="1170450"/>
            <a:ext cx="7434199" cy="365492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47"/>
          <p:cNvSpPr txBox="1"/>
          <p:nvPr>
            <p:ph idx="4294967295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8"/>
          <p:cNvSpPr txBox="1"/>
          <p:nvPr>
            <p:ph idx="4294967295" type="ctrTitle"/>
          </p:nvPr>
        </p:nvSpPr>
        <p:spPr>
          <a:xfrm>
            <a:off x="291075" y="2411475"/>
            <a:ext cx="5796900" cy="775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</a:t>
            </a:r>
            <a:endParaRPr/>
          </a:p>
        </p:txBody>
      </p:sp>
      <p:sp>
        <p:nvSpPr>
          <p:cNvPr id="293" name="Google Shape;293;p48"/>
          <p:cNvSpPr txBox="1"/>
          <p:nvPr>
            <p:ph idx="4294967295" type="subTitle"/>
          </p:nvPr>
        </p:nvSpPr>
        <p:spPr>
          <a:xfrm>
            <a:off x="291075" y="3186975"/>
            <a:ext cx="5796900" cy="46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Data Preparation &amp; Applying GCN/GAT </a:t>
            </a:r>
            <a:endParaRPr/>
          </a:p>
        </p:txBody>
      </p:sp>
      <p:sp>
        <p:nvSpPr>
          <p:cNvPr id="294" name="Google Shape;294;p48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0124D"/>
            </a:gs>
            <a:gs pos="100000">
              <a:srgbClr val="1E123D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9"/>
          <p:cNvSpPr txBox="1"/>
          <p:nvPr>
            <p:ph idx="1" type="body"/>
          </p:nvPr>
        </p:nvSpPr>
        <p:spPr>
          <a:xfrm>
            <a:off x="460350" y="1098625"/>
            <a:ext cx="8271900" cy="37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Pre-Processing</a:t>
            </a:r>
            <a:endParaRPr b="1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Cleaned Data</a:t>
            </a:r>
            <a:endParaRPr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tillium Web"/>
              <a:buChar char="○"/>
            </a:pPr>
            <a:r>
              <a:rPr lang="en">
                <a:latin typeface="Titillium Web"/>
                <a:ea typeface="Titillium Web"/>
                <a:cs typeface="Titillium Web"/>
                <a:sym typeface="Titillium Web"/>
              </a:rPr>
              <a:t>Removed Rare &amp; Stop Words</a:t>
            </a:r>
            <a:endParaRPr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tillium Web"/>
              <a:buChar char="○"/>
            </a:pPr>
            <a:r>
              <a:rPr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Shuffled Data (to reduce bias)</a:t>
            </a:r>
            <a:endParaRPr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tillium Web"/>
              <a:buChar char="●"/>
            </a:pPr>
            <a:r>
              <a:rPr b="1"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Building Graph</a:t>
            </a:r>
            <a:endParaRPr b="1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tillium Web"/>
              <a:buChar char="○"/>
            </a:pPr>
            <a:r>
              <a:rPr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For Node Features: </a:t>
            </a:r>
            <a:r>
              <a:rPr lang="en">
                <a:latin typeface="Titillium Web"/>
                <a:ea typeface="Titillium Web"/>
                <a:cs typeface="Titillium Web"/>
                <a:sym typeface="Titillium Web"/>
              </a:rPr>
              <a:t>Training-test docs, word features</a:t>
            </a:r>
            <a:endParaRPr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tillium Web"/>
              <a:buChar char="○"/>
            </a:pPr>
            <a:r>
              <a:rPr lang="en">
                <a:latin typeface="Titillium Web"/>
                <a:ea typeface="Titillium Web"/>
                <a:cs typeface="Titillium Web"/>
                <a:sym typeface="Titillium Web"/>
              </a:rPr>
              <a:t>For </a:t>
            </a:r>
            <a:r>
              <a:rPr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Adjacency Matrix: PMI &amp; TF-IDF scores</a:t>
            </a:r>
            <a:endParaRPr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00" name="Google Shape;300;p49"/>
          <p:cNvSpPr txBox="1"/>
          <p:nvPr>
            <p:ph type="title"/>
          </p:nvPr>
        </p:nvSpPr>
        <p:spPr>
          <a:xfrm>
            <a:off x="594150" y="213000"/>
            <a:ext cx="7955700" cy="64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GCN - Evaluation</a:t>
            </a:r>
            <a:endParaRPr/>
          </a:p>
        </p:txBody>
      </p:sp>
      <p:sp>
        <p:nvSpPr>
          <p:cNvPr id="301" name="Google Shape;301;p49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0124D"/>
            </a:gs>
            <a:gs pos="100000">
              <a:srgbClr val="1E123D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0"/>
          <p:cNvSpPr txBox="1"/>
          <p:nvPr>
            <p:ph type="title"/>
          </p:nvPr>
        </p:nvSpPr>
        <p:spPr>
          <a:xfrm>
            <a:off x="594150" y="213000"/>
            <a:ext cx="7955700" cy="64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GAT - Evaluation</a:t>
            </a:r>
            <a:endParaRPr/>
          </a:p>
        </p:txBody>
      </p:sp>
      <p:sp>
        <p:nvSpPr>
          <p:cNvPr id="307" name="Google Shape;307;p50"/>
          <p:cNvSpPr txBox="1"/>
          <p:nvPr>
            <p:ph idx="1" type="body"/>
          </p:nvPr>
        </p:nvSpPr>
        <p:spPr>
          <a:xfrm>
            <a:off x="460350" y="1098625"/>
            <a:ext cx="8271900" cy="37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</a:pPr>
            <a:r>
              <a:rPr lang="en">
                <a:latin typeface="Titillium Web"/>
                <a:ea typeface="Titillium Web"/>
                <a:cs typeface="Titillium Web"/>
                <a:sym typeface="Titillium Web"/>
              </a:rPr>
              <a:t>Implemented GAT network to learn </a:t>
            </a: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attention coefficients</a:t>
            </a:r>
            <a:r>
              <a:rPr lang="en">
                <a:latin typeface="Titillium Web"/>
                <a:ea typeface="Titillium Web"/>
                <a:cs typeface="Titillium Web"/>
                <a:sym typeface="Titillium Web"/>
              </a:rPr>
              <a:t> to be able to specify </a:t>
            </a: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different weights for different nodes in neighbourhood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</a:pPr>
            <a:r>
              <a:rPr lang="en">
                <a:latin typeface="Titillium Web"/>
                <a:ea typeface="Titillium Web"/>
                <a:cs typeface="Titillium Web"/>
                <a:sym typeface="Titillium Web"/>
              </a:rPr>
              <a:t>Since we do</a:t>
            </a: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 not have graph data for each dataset</a:t>
            </a:r>
            <a:r>
              <a:rPr lang="en">
                <a:latin typeface="Titillium Web"/>
                <a:ea typeface="Titillium Web"/>
                <a:cs typeface="Titillium Web"/>
                <a:sym typeface="Titillium Web"/>
              </a:rPr>
              <a:t>, we only have results for cora, citeseer and pubmed data for now.</a:t>
            </a:r>
            <a:endParaRPr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</a:pPr>
            <a:r>
              <a:rPr lang="en">
                <a:latin typeface="Titillium Web"/>
                <a:ea typeface="Titillium Web"/>
                <a:cs typeface="Titillium Web"/>
                <a:sym typeface="Titillium Web"/>
              </a:rPr>
              <a:t>Currently evaluated results on citation graphs</a:t>
            </a:r>
            <a:endParaRPr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08" name="Google Shape;308;p50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0124D"/>
            </a:gs>
            <a:gs pos="100000">
              <a:srgbClr val="1E123D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1"/>
          <p:cNvSpPr txBox="1"/>
          <p:nvPr>
            <p:ph type="title"/>
          </p:nvPr>
        </p:nvSpPr>
        <p:spPr>
          <a:xfrm>
            <a:off x="594150" y="213000"/>
            <a:ext cx="7955700" cy="64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GCN + </a:t>
            </a:r>
            <a:r>
              <a:rPr lang="en"/>
              <a:t>GAT</a:t>
            </a:r>
            <a:endParaRPr/>
          </a:p>
        </p:txBody>
      </p:sp>
      <p:sp>
        <p:nvSpPr>
          <p:cNvPr id="314" name="Google Shape;314;p51"/>
          <p:cNvSpPr txBox="1"/>
          <p:nvPr>
            <p:ph idx="1" type="body"/>
          </p:nvPr>
        </p:nvSpPr>
        <p:spPr>
          <a:xfrm>
            <a:off x="460350" y="1098625"/>
            <a:ext cx="8271900" cy="37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tillium Web"/>
              <a:buChar char="●"/>
            </a:pPr>
            <a:r>
              <a:rPr lang="en">
                <a:latin typeface="Titillium Web"/>
                <a:ea typeface="Titillium Web"/>
                <a:cs typeface="Titillium Web"/>
                <a:sym typeface="Titillium Web"/>
              </a:rPr>
              <a:t>Implemented GAT architecture that works on a graph consisting of words and documents rather than only documents</a:t>
            </a:r>
            <a:endParaRPr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tillium Web"/>
              <a:buChar char="●"/>
            </a:pPr>
            <a:r>
              <a:rPr lang="en">
                <a:latin typeface="Titillium Web"/>
                <a:ea typeface="Titillium Web"/>
                <a:cs typeface="Titillium Web"/>
                <a:sym typeface="Titillium Web"/>
              </a:rPr>
              <a:t>Will use attention coefficients to learn graph representation on which GCN operates</a:t>
            </a:r>
            <a:endParaRPr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tillium Web"/>
              <a:buChar char="●"/>
            </a:pPr>
            <a:r>
              <a:rPr lang="en">
                <a:latin typeface="Titillium Web"/>
                <a:ea typeface="Titillium Web"/>
                <a:cs typeface="Titillium Web"/>
                <a:sym typeface="Titillium Web"/>
              </a:rPr>
              <a:t>Currently requires some optimization and modifications to have consistent increase in accuracy</a:t>
            </a:r>
            <a:endParaRPr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15" name="Google Shape;315;p51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2"/>
          <p:cNvSpPr txBox="1"/>
          <p:nvPr>
            <p:ph idx="4294967295" type="ctrTitle"/>
          </p:nvPr>
        </p:nvSpPr>
        <p:spPr>
          <a:xfrm>
            <a:off x="291075" y="2411475"/>
            <a:ext cx="5796900" cy="775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321" name="Google Shape;321;p52"/>
          <p:cNvSpPr txBox="1"/>
          <p:nvPr>
            <p:ph idx="4294967295" type="subTitle"/>
          </p:nvPr>
        </p:nvSpPr>
        <p:spPr>
          <a:xfrm>
            <a:off x="291075" y="3186975"/>
            <a:ext cx="5796900" cy="46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Datasets &amp; Results</a:t>
            </a:r>
            <a:endParaRPr/>
          </a:p>
        </p:txBody>
      </p:sp>
      <p:sp>
        <p:nvSpPr>
          <p:cNvPr id="322" name="Google Shape;322;p52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0124D"/>
            </a:gs>
            <a:gs pos="100000">
              <a:srgbClr val="1E123D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3"/>
          <p:cNvSpPr txBox="1"/>
          <p:nvPr>
            <p:ph idx="4294967295" type="body"/>
          </p:nvPr>
        </p:nvSpPr>
        <p:spPr>
          <a:xfrm>
            <a:off x="485775" y="1056775"/>
            <a:ext cx="1851600" cy="14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20NG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Newsgroups dataset, 18846 documents, 20 labels. Training-Size: 11314, Test-Size: 7532</a:t>
            </a:r>
            <a:endParaRPr sz="1200"/>
          </a:p>
        </p:txBody>
      </p:sp>
      <p:sp>
        <p:nvSpPr>
          <p:cNvPr id="328" name="Google Shape;328;p53"/>
          <p:cNvSpPr txBox="1"/>
          <p:nvPr>
            <p:ph idx="4294967295" type="body"/>
          </p:nvPr>
        </p:nvSpPr>
        <p:spPr>
          <a:xfrm>
            <a:off x="2572727" y="1056775"/>
            <a:ext cx="1851600" cy="14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Ohsumed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Cardiovascular diseases abstracts dataset, 7400 documents, 23 labels. Training-Size: 3357, Test-Size: 4043</a:t>
            </a:r>
            <a:endParaRPr sz="1200"/>
          </a:p>
        </p:txBody>
      </p:sp>
      <p:sp>
        <p:nvSpPr>
          <p:cNvPr id="329" name="Google Shape;329;p53"/>
          <p:cNvSpPr txBox="1"/>
          <p:nvPr>
            <p:ph idx="4294967295" type="body"/>
          </p:nvPr>
        </p:nvSpPr>
        <p:spPr>
          <a:xfrm>
            <a:off x="4659678" y="1056775"/>
            <a:ext cx="1851600" cy="14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R8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Subset of Reuters 21578 dataset, 7674 documents, 8 labels. Training-Size: 5485, Test-Size: 2189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30" name="Google Shape;330;p53"/>
          <p:cNvSpPr txBox="1"/>
          <p:nvPr>
            <p:ph idx="4294967295" type="title"/>
          </p:nvPr>
        </p:nvSpPr>
        <p:spPr>
          <a:xfrm>
            <a:off x="594150" y="213000"/>
            <a:ext cx="7955700" cy="64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Datasets</a:t>
            </a:r>
            <a:endParaRPr/>
          </a:p>
        </p:txBody>
      </p:sp>
      <p:sp>
        <p:nvSpPr>
          <p:cNvPr id="331" name="Google Shape;331;p53"/>
          <p:cNvSpPr txBox="1"/>
          <p:nvPr>
            <p:ph idx="4294967295" type="body"/>
          </p:nvPr>
        </p:nvSpPr>
        <p:spPr>
          <a:xfrm>
            <a:off x="6806628" y="1064575"/>
            <a:ext cx="1851600" cy="14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R52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Subset of Reuters 21578 dataset, 9100 documents, 52 labels. Training-Size: 6532, Test-Size: 2568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32" name="Google Shape;332;p53"/>
          <p:cNvSpPr txBox="1"/>
          <p:nvPr>
            <p:ph idx="4294967295" type="body"/>
          </p:nvPr>
        </p:nvSpPr>
        <p:spPr>
          <a:xfrm>
            <a:off x="485775" y="2810550"/>
            <a:ext cx="1851600" cy="14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MR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Movie review dataset, 10662 documents, 2 labels. Training-Size: 7108, Test-Size: 3554</a:t>
            </a:r>
            <a:endParaRPr sz="1200"/>
          </a:p>
        </p:txBody>
      </p:sp>
      <p:sp>
        <p:nvSpPr>
          <p:cNvPr id="333" name="Google Shape;333;p53"/>
          <p:cNvSpPr txBox="1"/>
          <p:nvPr>
            <p:ph idx="4294967295" type="body"/>
          </p:nvPr>
        </p:nvSpPr>
        <p:spPr>
          <a:xfrm>
            <a:off x="2572727" y="2810550"/>
            <a:ext cx="1851600" cy="14400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Cora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Citation dataset, 2708 nodes, 5429 edges, 7 classes. Training-Size: 1707, Validation-Size: 189, Test-Size: 812</a:t>
            </a:r>
            <a:endParaRPr sz="1200"/>
          </a:p>
        </p:txBody>
      </p:sp>
      <p:sp>
        <p:nvSpPr>
          <p:cNvPr id="334" name="Google Shape;334;p53"/>
          <p:cNvSpPr txBox="1"/>
          <p:nvPr>
            <p:ph idx="4294967295" type="body"/>
          </p:nvPr>
        </p:nvSpPr>
        <p:spPr>
          <a:xfrm>
            <a:off x="4659678" y="2810550"/>
            <a:ext cx="1851600" cy="14400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Citeseer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Citation dataset, 3327 nodes, 4732 edges, 6 classes. Training-Size: 2097, Validation-Size: 232, Test-Size: 998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35" name="Google Shape;335;p53"/>
          <p:cNvSpPr txBox="1"/>
          <p:nvPr>
            <p:ph idx="4294967295" type="body"/>
          </p:nvPr>
        </p:nvSpPr>
        <p:spPr>
          <a:xfrm>
            <a:off x="6806628" y="2818350"/>
            <a:ext cx="1851600" cy="14400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Pubmed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Citation dataset, 19717 nodes, 44338 edges, 3 classes. Training-Size: 12422, Validation-Size: 1380, Test-Size: 5915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36" name="Google Shape;336;p53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0124D"/>
            </a:gs>
            <a:gs pos="100000">
              <a:srgbClr val="1E123D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1" name="Google Shape;341;p54"/>
          <p:cNvGraphicFramePr/>
          <p:nvPr/>
        </p:nvGraphicFramePr>
        <p:xfrm>
          <a:off x="425050" y="1464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{8596DB81-3846-431F-B4B0-A541C502D99A}</a:tableStyleId>
              </a:tblPr>
              <a:tblGrid>
                <a:gridCol w="2063575"/>
                <a:gridCol w="2076775"/>
                <a:gridCol w="2076775"/>
                <a:gridCol w="2076775"/>
              </a:tblGrid>
              <a:tr h="472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Cora</a:t>
                      </a:r>
                      <a:endParaRPr>
                        <a:solidFill>
                          <a:srgbClr val="FFFFFF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Citeseer</a:t>
                      </a:r>
                      <a:endParaRPr>
                        <a:solidFill>
                          <a:srgbClr val="FFFFFF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Pubmed</a:t>
                      </a:r>
                      <a:endParaRPr>
                        <a:solidFill>
                          <a:srgbClr val="FFFFFF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/>
                </a:tc>
              </a:tr>
              <a:tr h="472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GCN (Kipf, Welling)</a:t>
                      </a:r>
                      <a:endParaRPr>
                        <a:solidFill>
                          <a:srgbClr val="FFFFFF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81.5 %</a:t>
                      </a:r>
                      <a:endParaRPr b="1" sz="1800">
                        <a:solidFill>
                          <a:srgbClr val="FFFFFF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70.3 %</a:t>
                      </a:r>
                      <a:endParaRPr b="1" sz="1800">
                        <a:solidFill>
                          <a:srgbClr val="FFFFFF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79.0 %</a:t>
                      </a:r>
                      <a:endParaRPr b="1" sz="1800">
                        <a:solidFill>
                          <a:srgbClr val="FFFFFF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/>
                </a:tc>
              </a:tr>
              <a:tr h="56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Text-</a:t>
                      </a:r>
                      <a:r>
                        <a:rPr lang="en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GCN (</a:t>
                      </a:r>
                      <a:r>
                        <a:rPr lang="en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Yao, Mao, Luo</a:t>
                      </a:r>
                      <a:r>
                        <a:rPr lang="en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)</a:t>
                      </a:r>
                      <a:endParaRPr>
                        <a:solidFill>
                          <a:srgbClr val="FFFFFF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75</a:t>
                      </a:r>
                      <a:r>
                        <a:rPr b="1" lang="en" sz="18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.86 %</a:t>
                      </a:r>
                      <a:endParaRPr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73.21 %</a:t>
                      </a:r>
                      <a:endParaRPr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85</a:t>
                      </a:r>
                      <a:r>
                        <a:rPr b="1" lang="en" sz="18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.87 %</a:t>
                      </a:r>
                      <a:endParaRPr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/>
                </a:tc>
              </a:tr>
              <a:tr h="701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GAT (Velickovic)</a:t>
                      </a:r>
                      <a:endParaRPr>
                        <a:solidFill>
                          <a:srgbClr val="FFFFFF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83.0 ± 0.7 %</a:t>
                      </a:r>
                      <a:endParaRPr sz="18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72.5 ± 0.7 % </a:t>
                      </a:r>
                      <a:endParaRPr sz="18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79.0 ± 0.3 %</a:t>
                      </a:r>
                      <a:endParaRPr sz="18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42" name="Google Shape;342;p54"/>
          <p:cNvSpPr txBox="1"/>
          <p:nvPr>
            <p:ph idx="4294967295" type="title"/>
          </p:nvPr>
        </p:nvSpPr>
        <p:spPr>
          <a:xfrm>
            <a:off x="594150" y="213000"/>
            <a:ext cx="7955700" cy="64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Results for Citation Datasets</a:t>
            </a:r>
            <a:endParaRPr/>
          </a:p>
        </p:txBody>
      </p:sp>
      <p:sp>
        <p:nvSpPr>
          <p:cNvPr id="343" name="Google Shape;343;p54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0124D"/>
            </a:gs>
            <a:gs pos="100000">
              <a:srgbClr val="1E123D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5"/>
          <p:cNvSpPr txBox="1"/>
          <p:nvPr>
            <p:ph idx="4294967295" type="title"/>
          </p:nvPr>
        </p:nvSpPr>
        <p:spPr>
          <a:xfrm>
            <a:off x="594150" y="213000"/>
            <a:ext cx="7955700" cy="64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Results for Other Datasets</a:t>
            </a:r>
            <a:endParaRPr/>
          </a:p>
        </p:txBody>
      </p:sp>
      <p:pic>
        <p:nvPicPr>
          <p:cNvPr id="349" name="Google Shape;349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1200" y="996875"/>
            <a:ext cx="6881598" cy="3870899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55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0124D"/>
            </a:gs>
            <a:gs pos="100000">
              <a:srgbClr val="1E123D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6"/>
          <p:cNvSpPr txBox="1"/>
          <p:nvPr>
            <p:ph type="title"/>
          </p:nvPr>
        </p:nvSpPr>
        <p:spPr>
          <a:xfrm>
            <a:off x="594150" y="213000"/>
            <a:ext cx="7955700" cy="64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is available at</a:t>
            </a:r>
            <a:endParaRPr/>
          </a:p>
        </p:txBody>
      </p:sp>
      <p:sp>
        <p:nvSpPr>
          <p:cNvPr id="356" name="Google Shape;356;p56"/>
          <p:cNvSpPr txBox="1"/>
          <p:nvPr>
            <p:ph idx="1" type="body"/>
          </p:nvPr>
        </p:nvSpPr>
        <p:spPr>
          <a:xfrm>
            <a:off x="460350" y="1098625"/>
            <a:ext cx="8271900" cy="37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Titillium Web"/>
                <a:ea typeface="Titillium Web"/>
                <a:cs typeface="Titillium Web"/>
                <a:sym typeface="Titillium Web"/>
                <a:hlinkClick r:id="rId3"/>
              </a:rPr>
              <a:t>https://github.com/guneykan/gcn_text_categorization</a:t>
            </a:r>
            <a:endParaRPr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itillium Web"/>
              <a:buChar char="●"/>
            </a:pPr>
            <a:r>
              <a:rPr lang="en" u="sng">
                <a:solidFill>
                  <a:schemeClr val="hlink"/>
                </a:solidFill>
                <a:latin typeface="Titillium Web"/>
                <a:ea typeface="Titillium Web"/>
                <a:cs typeface="Titillium Web"/>
                <a:sym typeface="Titillium Web"/>
                <a:hlinkClick r:id="rId4"/>
              </a:rPr>
              <a:t>https://github.com/inzva/Text-Classification-Graph-CNNs</a:t>
            </a:r>
            <a:endParaRPr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57" name="Google Shape;357;p56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0124D"/>
            </a:gs>
            <a:gs pos="100000">
              <a:srgbClr val="1E123D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7"/>
          <p:cNvSpPr txBox="1"/>
          <p:nvPr>
            <p:ph type="title"/>
          </p:nvPr>
        </p:nvSpPr>
        <p:spPr>
          <a:xfrm>
            <a:off x="594150" y="213000"/>
            <a:ext cx="7955700" cy="64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363" name="Google Shape;363;p57"/>
          <p:cNvSpPr txBox="1"/>
          <p:nvPr>
            <p:ph idx="1" type="body"/>
          </p:nvPr>
        </p:nvSpPr>
        <p:spPr>
          <a:xfrm>
            <a:off x="460350" y="1098625"/>
            <a:ext cx="8271900" cy="37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Char char="●"/>
            </a:pPr>
            <a:r>
              <a:rPr lang="en" sz="2200">
                <a:latin typeface="Titillium Web"/>
                <a:ea typeface="Titillium Web"/>
                <a:cs typeface="Titillium Web"/>
                <a:sym typeface="Titillium Web"/>
              </a:rPr>
              <a:t>[Liang Yao, Chengsheng Mao, Yuan Luo, 2018] </a:t>
            </a:r>
            <a:r>
              <a:rPr lang="en" sz="2200">
                <a:latin typeface="Titillium Web"/>
                <a:ea typeface="Titillium Web"/>
                <a:cs typeface="Titillium Web"/>
                <a:sym typeface="Titillium Web"/>
              </a:rPr>
              <a:t>Graph Convolutional Networks for Text Classification: </a:t>
            </a:r>
            <a:r>
              <a:rPr lang="en" sz="2200" u="sng">
                <a:solidFill>
                  <a:schemeClr val="hlink"/>
                </a:solidFill>
                <a:latin typeface="Titillium Web"/>
                <a:ea typeface="Titillium Web"/>
                <a:cs typeface="Titillium Web"/>
                <a:sym typeface="Titillium Web"/>
                <a:hlinkClick r:id="rId3"/>
              </a:rPr>
              <a:t>https://arxiv.org/abs/1809.05679</a:t>
            </a:r>
            <a:r>
              <a:rPr lang="en" sz="2200">
                <a:latin typeface="Titillium Web"/>
                <a:ea typeface="Titillium Web"/>
                <a:cs typeface="Titillium Web"/>
                <a:sym typeface="Titillium Web"/>
              </a:rPr>
              <a:t> </a:t>
            </a:r>
            <a:endParaRPr sz="2200"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Char char="●"/>
            </a:pPr>
            <a:r>
              <a:rPr lang="en" sz="2200">
                <a:latin typeface="Titillium Web"/>
                <a:ea typeface="Titillium Web"/>
                <a:cs typeface="Titillium Web"/>
                <a:sym typeface="Titillium Web"/>
              </a:rPr>
              <a:t>[Kipf and Welling, 2017]  Semi-supervised classification with graph convolutional networks. InICLR.</a:t>
            </a:r>
            <a:endParaRPr sz="2200"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Char char="●"/>
            </a:pPr>
            <a:r>
              <a:rPr lang="en" sz="2200">
                <a:latin typeface="Titillium Web"/>
                <a:ea typeface="Titillium Web"/>
                <a:cs typeface="Titillium Web"/>
                <a:sym typeface="Titillium Web"/>
              </a:rPr>
              <a:t>[</a:t>
            </a:r>
            <a:r>
              <a:rPr lang="en" sz="2200">
                <a:latin typeface="Titillium Web"/>
                <a:ea typeface="Titillium Web"/>
                <a:cs typeface="Titillium Web"/>
                <a:sym typeface="Titillium Web"/>
              </a:rPr>
              <a:t>Ankit Pal</a:t>
            </a:r>
            <a:r>
              <a:rPr lang="en" sz="2200">
                <a:latin typeface="Titillium Web"/>
                <a:ea typeface="Titillium Web"/>
                <a:cs typeface="Titillium Web"/>
                <a:sym typeface="Titillium Web"/>
              </a:rPr>
              <a:t>] Multi-label Text Classification using Attention based Graph Neural Network</a:t>
            </a:r>
            <a:endParaRPr sz="2200"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Char char="●"/>
            </a:pPr>
            <a:r>
              <a:rPr lang="en" sz="2200">
                <a:latin typeface="Titillium Web"/>
                <a:ea typeface="Titillium Web"/>
                <a:cs typeface="Titillium Web"/>
                <a:sym typeface="Titillium Web"/>
              </a:rPr>
              <a:t>[</a:t>
            </a:r>
            <a:r>
              <a:rPr lang="en" sz="2200">
                <a:latin typeface="Titillium Web"/>
                <a:ea typeface="Titillium Web"/>
                <a:cs typeface="Titillium Web"/>
                <a:sym typeface="Titillium Web"/>
              </a:rPr>
              <a:t>Petar Velickovic</a:t>
            </a:r>
            <a:r>
              <a:rPr lang="en" sz="2200">
                <a:latin typeface="Titillium Web"/>
                <a:ea typeface="Titillium Web"/>
                <a:cs typeface="Titillium Web"/>
                <a:sym typeface="Titillium Web"/>
              </a:rPr>
              <a:t>] </a:t>
            </a:r>
            <a:r>
              <a:rPr lang="en" sz="2200">
                <a:latin typeface="Titillium Web"/>
                <a:ea typeface="Titillium Web"/>
                <a:cs typeface="Titillium Web"/>
                <a:sym typeface="Titillium Web"/>
              </a:rPr>
              <a:t>Graph Attention Networks</a:t>
            </a:r>
            <a:endParaRPr sz="22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64" name="Google Shape;364;p57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8"/>
          <p:cNvSpPr txBox="1"/>
          <p:nvPr>
            <p:ph type="ctrTitle"/>
          </p:nvPr>
        </p:nvSpPr>
        <p:spPr>
          <a:xfrm>
            <a:off x="1989600" y="1643850"/>
            <a:ext cx="5164800" cy="1855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/>
              <a:t>Thank you for listening!</a:t>
            </a:r>
            <a:endParaRPr sz="5800"/>
          </a:p>
        </p:txBody>
      </p:sp>
      <p:sp>
        <p:nvSpPr>
          <p:cNvPr id="370" name="Google Shape;370;p58"/>
          <p:cNvSpPr txBox="1"/>
          <p:nvPr>
            <p:ph idx="4294967295" type="subTitle"/>
          </p:nvPr>
        </p:nvSpPr>
        <p:spPr>
          <a:xfrm>
            <a:off x="2274600" y="4640825"/>
            <a:ext cx="4594800" cy="3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Titillium Web"/>
                <a:ea typeface="Titillium Web"/>
                <a:cs typeface="Titillium Web"/>
                <a:sym typeface="Titillium Web"/>
              </a:rPr>
              <a:t>Inzva AI Projects #4 - Showcase - 30.05.2020</a:t>
            </a:r>
            <a:endParaRPr sz="18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71" name="Google Shape;371;p58"/>
          <p:cNvSpPr txBox="1"/>
          <p:nvPr>
            <p:ph idx="4294967295" type="title"/>
          </p:nvPr>
        </p:nvSpPr>
        <p:spPr>
          <a:xfrm>
            <a:off x="-90150" y="446300"/>
            <a:ext cx="9324300" cy="64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Text Classification using Graph Convolutional Networks</a:t>
            </a:r>
            <a:endParaRPr/>
          </a:p>
        </p:txBody>
      </p:sp>
      <p:sp>
        <p:nvSpPr>
          <p:cNvPr id="372" name="Google Shape;372;p58"/>
          <p:cNvSpPr txBox="1"/>
          <p:nvPr>
            <p:ph idx="4294967295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373" name="Google Shape;373;p58"/>
          <p:cNvSpPr txBox="1"/>
          <p:nvPr>
            <p:ph idx="4294967295" type="subTitle"/>
          </p:nvPr>
        </p:nvSpPr>
        <p:spPr>
          <a:xfrm>
            <a:off x="6645600" y="3626575"/>
            <a:ext cx="2260200" cy="142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Güneykan Özgül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Berk Sudan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Titillium Web"/>
                <a:ea typeface="Titillium Web"/>
                <a:cs typeface="Titillium Web"/>
                <a:sym typeface="Titillium Web"/>
              </a:rPr>
              <a:t>Onur Kılıçoğlu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inacor template">
  <a:themeElements>
    <a:clrScheme name="Custom 347">
      <a:dk1>
        <a:srgbClr val="000000"/>
      </a:dk1>
      <a:lt1>
        <a:srgbClr val="FFFFFF"/>
      </a:lt1>
      <a:dk2>
        <a:srgbClr val="9199AA"/>
      </a:dk2>
      <a:lt2>
        <a:srgbClr val="E4E7EC"/>
      </a:lt2>
      <a:accent1>
        <a:srgbClr val="002988"/>
      </a:accent1>
      <a:accent2>
        <a:srgbClr val="004CF8"/>
      </a:accent2>
      <a:accent3>
        <a:srgbClr val="7DFFB1"/>
      </a:accent3>
      <a:accent4>
        <a:srgbClr val="E0FF7D"/>
      </a:accent4>
      <a:accent5>
        <a:srgbClr val="FFF16B"/>
      </a:accent5>
      <a:accent6>
        <a:srgbClr val="FFFFFF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inacor template">
  <a:themeElements>
    <a:clrScheme name="Custom 347">
      <a:dk1>
        <a:srgbClr val="000000"/>
      </a:dk1>
      <a:lt1>
        <a:srgbClr val="FFFFFF"/>
      </a:lt1>
      <a:dk2>
        <a:srgbClr val="9199AA"/>
      </a:dk2>
      <a:lt2>
        <a:srgbClr val="E4E7EC"/>
      </a:lt2>
      <a:accent1>
        <a:srgbClr val="002988"/>
      </a:accent1>
      <a:accent2>
        <a:srgbClr val="004CF8"/>
      </a:accent2>
      <a:accent3>
        <a:srgbClr val="7DFFB1"/>
      </a:accent3>
      <a:accent4>
        <a:srgbClr val="E0FF7D"/>
      </a:accent4>
      <a:accent5>
        <a:srgbClr val="FFF16B"/>
      </a:accent5>
      <a:accent6>
        <a:srgbClr val="FFFFFF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